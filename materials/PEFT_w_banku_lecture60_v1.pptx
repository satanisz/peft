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07df92dda045dd" /><Relationship Type="http://schemas.openxmlformats.org/officeDocument/2006/relationships/extended-properties" Target="/docProps/app.xml" Id="R7789cc6852904567" /><Relationship Type="http://schemas.openxmlformats.org/officeDocument/2006/relationships/officeDocument" Target="/ppt/presentation.xml" Id="R54722a51b64f4f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69c7f20c24beb"/>
  </p:sldMasterIdLst>
  <p:notesMasterIdLst>
    <p:notesMasterId xmlns:r="http://schemas.openxmlformats.org/officeDocument/2006/relationships" r:id="Rfcb56251081148ec"/>
  </p:notesMasterIdLst>
  <p:sldIdLst>
    <p:sldId xmlns:r="http://schemas.openxmlformats.org/officeDocument/2006/relationships" id="256" r:id="R30b5e8816c3b4067"/>
    <p:sldId xmlns:r="http://schemas.openxmlformats.org/officeDocument/2006/relationships" id="257" r:id="R0d63214ed64246db"/>
    <p:sldId xmlns:r="http://schemas.openxmlformats.org/officeDocument/2006/relationships" id="258" r:id="R703edfbebc8b4393"/>
    <p:sldId xmlns:r="http://schemas.openxmlformats.org/officeDocument/2006/relationships" id="259" r:id="R42a0756bf84242b4"/>
    <p:sldId xmlns:r="http://schemas.openxmlformats.org/officeDocument/2006/relationships" id="260" r:id="Rb6660b93a626424b"/>
    <p:sldId xmlns:r="http://schemas.openxmlformats.org/officeDocument/2006/relationships" id="261" r:id="R1933aa45e9c14103"/>
    <p:sldId xmlns:r="http://schemas.openxmlformats.org/officeDocument/2006/relationships" id="262" r:id="R34b6a2b765114dc9"/>
    <p:sldId xmlns:r="http://schemas.openxmlformats.org/officeDocument/2006/relationships" id="263" r:id="Ra736cf508a82434c"/>
    <p:sldId xmlns:r="http://schemas.openxmlformats.org/officeDocument/2006/relationships" id="264" r:id="R1a8e2fea36e245b4"/>
    <p:sldId xmlns:r="http://schemas.openxmlformats.org/officeDocument/2006/relationships" id="265" r:id="Rfa276f72108d4387"/>
    <p:sldId xmlns:r="http://schemas.openxmlformats.org/officeDocument/2006/relationships" id="266" r:id="R2991947220014d4e"/>
    <p:sldId xmlns:r="http://schemas.openxmlformats.org/officeDocument/2006/relationships" id="267" r:id="Re350da8efec94eb7"/>
    <p:sldId xmlns:r="http://schemas.openxmlformats.org/officeDocument/2006/relationships" id="268" r:id="Rf367b71d2c594007"/>
    <p:sldId xmlns:r="http://schemas.openxmlformats.org/officeDocument/2006/relationships" id="269" r:id="R21270c5bc75e40b4"/>
    <p:sldId xmlns:r="http://schemas.openxmlformats.org/officeDocument/2006/relationships" id="270" r:id="Re44a1dc560b6406b"/>
    <p:sldId xmlns:r="http://schemas.openxmlformats.org/officeDocument/2006/relationships" id="271" r:id="R87c37f5ee00047da"/>
    <p:sldId xmlns:r="http://schemas.openxmlformats.org/officeDocument/2006/relationships" id="272" r:id="R62f042fc07cd4160"/>
    <p:sldId xmlns:r="http://schemas.openxmlformats.org/officeDocument/2006/relationships" id="273" r:id="R31da7fd4620a421e"/>
    <p:sldId xmlns:r="http://schemas.openxmlformats.org/officeDocument/2006/relationships" id="274" r:id="R4f518270d193401b"/>
    <p:sldId xmlns:r="http://schemas.openxmlformats.org/officeDocument/2006/relationships" id="275" r:id="R552063ad5b0c403c"/>
    <p:sldId xmlns:r="http://schemas.openxmlformats.org/officeDocument/2006/relationships" id="276" r:id="Rb0e903a61d3947c9"/>
    <p:sldId xmlns:r="http://schemas.openxmlformats.org/officeDocument/2006/relationships" id="277" r:id="Rebb74e0e9d7342dc"/>
    <p:sldId xmlns:r="http://schemas.openxmlformats.org/officeDocument/2006/relationships" id="278" r:id="R84e758836aed4951"/>
    <p:sldId xmlns:r="http://schemas.openxmlformats.org/officeDocument/2006/relationships" id="279" r:id="R38ad7c9ecad6458e"/>
    <p:sldId xmlns:r="http://schemas.openxmlformats.org/officeDocument/2006/relationships" id="280" r:id="Rc2725dde5c4e47ab"/>
    <p:sldId xmlns:r="http://schemas.openxmlformats.org/officeDocument/2006/relationships" id="281" r:id="R9607d7ca6fc54e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f830f68c334d06" /><Relationship Type="http://schemas.openxmlformats.org/officeDocument/2006/relationships/slideMaster" Target="/ppt/slideMasters/slideMaster1.xml" Id="R1ec69c7f20c24beb" /><Relationship Type="http://schemas.openxmlformats.org/officeDocument/2006/relationships/notesMaster" Target="/ppt/notesMasters/notesMaster1.xml" Id="Rfcb56251081148ec" /><Relationship Type="http://schemas.openxmlformats.org/officeDocument/2006/relationships/presProps" Target="/ppt/presProps.xml" Id="R62ff9126dfb74f45" /><Relationship Type="http://schemas.openxmlformats.org/officeDocument/2006/relationships/tableStyles" Target="/ppt/tableStyles.xml" Id="R324da3e176e44daf" /><Relationship Type="http://schemas.openxmlformats.org/officeDocument/2006/relationships/slide" Target="/ppt/slides/slide1.xml" Id="R30b5e8816c3b4067" /><Relationship Type="http://schemas.openxmlformats.org/officeDocument/2006/relationships/slide" Target="/ppt/slides/slide2.xml" Id="R0d63214ed64246db" /><Relationship Type="http://schemas.openxmlformats.org/officeDocument/2006/relationships/slide" Target="/ppt/slides/slide3.xml" Id="R703edfbebc8b4393" /><Relationship Type="http://schemas.openxmlformats.org/officeDocument/2006/relationships/slide" Target="/ppt/slides/slide4.xml" Id="R42a0756bf84242b4" /><Relationship Type="http://schemas.openxmlformats.org/officeDocument/2006/relationships/slide" Target="/ppt/slides/slide5.xml" Id="Rb6660b93a626424b" /><Relationship Type="http://schemas.openxmlformats.org/officeDocument/2006/relationships/slide" Target="/ppt/slides/slide6.xml" Id="R1933aa45e9c14103" /><Relationship Type="http://schemas.openxmlformats.org/officeDocument/2006/relationships/slide" Target="/ppt/slides/slide7.xml" Id="R34b6a2b765114dc9" /><Relationship Type="http://schemas.openxmlformats.org/officeDocument/2006/relationships/slide" Target="/ppt/slides/slide8.xml" Id="Ra736cf508a82434c" /><Relationship Type="http://schemas.openxmlformats.org/officeDocument/2006/relationships/slide" Target="/ppt/slides/slide9.xml" Id="R1a8e2fea36e245b4" /><Relationship Type="http://schemas.openxmlformats.org/officeDocument/2006/relationships/slide" Target="/ppt/slides/slide10.xml" Id="Rfa276f72108d4387" /><Relationship Type="http://schemas.openxmlformats.org/officeDocument/2006/relationships/slide" Target="/ppt/slides/slide11.xml" Id="R2991947220014d4e" /><Relationship Type="http://schemas.openxmlformats.org/officeDocument/2006/relationships/slide" Target="/ppt/slides/slide12.xml" Id="Re350da8efec94eb7" /><Relationship Type="http://schemas.openxmlformats.org/officeDocument/2006/relationships/slide" Target="/ppt/slides/slide13.xml" Id="Rf367b71d2c594007" /><Relationship Type="http://schemas.openxmlformats.org/officeDocument/2006/relationships/slide" Target="/ppt/slides/slide14.xml" Id="R21270c5bc75e40b4" /><Relationship Type="http://schemas.openxmlformats.org/officeDocument/2006/relationships/slide" Target="/ppt/slides/slide15.xml" Id="Re44a1dc560b6406b" /><Relationship Type="http://schemas.openxmlformats.org/officeDocument/2006/relationships/slide" Target="/ppt/slides/slide16.xml" Id="R87c37f5ee00047da" /><Relationship Type="http://schemas.openxmlformats.org/officeDocument/2006/relationships/slide" Target="/ppt/slides/slide17.xml" Id="R62f042fc07cd4160" /><Relationship Type="http://schemas.openxmlformats.org/officeDocument/2006/relationships/slide" Target="/ppt/slides/slide18.xml" Id="R31da7fd4620a421e" /><Relationship Type="http://schemas.openxmlformats.org/officeDocument/2006/relationships/slide" Target="/ppt/slides/slide19.xml" Id="R4f518270d193401b" /><Relationship Type="http://schemas.openxmlformats.org/officeDocument/2006/relationships/slide" Target="/ppt/slides/slide20.xml" Id="R552063ad5b0c403c" /><Relationship Type="http://schemas.openxmlformats.org/officeDocument/2006/relationships/slide" Target="/ppt/slides/slide21.xml" Id="Rb0e903a61d3947c9" /><Relationship Type="http://schemas.openxmlformats.org/officeDocument/2006/relationships/slide" Target="/ppt/slides/slide22.xml" Id="Rebb74e0e9d7342dc" /><Relationship Type="http://schemas.openxmlformats.org/officeDocument/2006/relationships/slide" Target="/ppt/slides/slide23.xml" Id="R84e758836aed4951" /><Relationship Type="http://schemas.openxmlformats.org/officeDocument/2006/relationships/slide" Target="/ppt/slides/slide24.xml" Id="R38ad7c9ecad6458e" /><Relationship Type="http://schemas.openxmlformats.org/officeDocument/2006/relationships/slide" Target="/ppt/slides/slide25.xml" Id="Rc2725dde5c4e47ab" /><Relationship Type="http://schemas.openxmlformats.org/officeDocument/2006/relationships/slide" Target="/ppt/slides/slide26.xml" Id="R9607d7ca6fc5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688f72881c4d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7f09102aca4fd4" /><Relationship Type="http://schemas.openxmlformats.org/officeDocument/2006/relationships/notesMaster" Target="/ppt/notesMasters/notesMaster1.xml" Id="Rfc8ffb48be2f42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30dedd4a404ff1" /><Relationship Type="http://schemas.openxmlformats.org/officeDocument/2006/relationships/notesMaster" Target="/ppt/notesMasters/notesMaster1.xml" Id="Rcb27873e54c94f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cf3439c69e4ad3" /><Relationship Type="http://schemas.openxmlformats.org/officeDocument/2006/relationships/notesMaster" Target="/ppt/notesMasters/notesMaster1.xml" Id="R39976d52ea604d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884086cfa4416" /><Relationship Type="http://schemas.openxmlformats.org/officeDocument/2006/relationships/notesMaster" Target="/ppt/notesMasters/notesMaster1.xml" Id="R382d4f9ca37046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eb57e9f7e94bfa" /><Relationship Type="http://schemas.openxmlformats.org/officeDocument/2006/relationships/notesMaster" Target="/ppt/notesMasters/notesMaster1.xml" Id="Ra0a4d514643d4f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e35810d094479a" /><Relationship Type="http://schemas.openxmlformats.org/officeDocument/2006/relationships/notesMaster" Target="/ppt/notesMasters/notesMaster1.xml" Id="R658f28377ba64b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cf51cee3145f1" /><Relationship Type="http://schemas.openxmlformats.org/officeDocument/2006/relationships/notesMaster" Target="/ppt/notesMasters/notesMaster1.xml" Id="Rb9957c41a0b243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333dcc7db49d1" /><Relationship Type="http://schemas.openxmlformats.org/officeDocument/2006/relationships/notesMaster" Target="/ppt/notesMasters/notesMaster1.xml" Id="R7c24ef27d41c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378475af524ebb" /><Relationship Type="http://schemas.openxmlformats.org/officeDocument/2006/relationships/notesMaster" Target="/ppt/notesMasters/notesMaster1.xml" Id="Rcc102a2a92e04f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a7ee80af4748fb" /><Relationship Type="http://schemas.openxmlformats.org/officeDocument/2006/relationships/notesMaster" Target="/ppt/notesMasters/notesMaster1.xml" Id="R8ca03cbc99a449f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a9c9d8c8ca4ff4" /><Relationship Type="http://schemas.openxmlformats.org/officeDocument/2006/relationships/notesMaster" Target="/ppt/notesMasters/notesMaster1.xml" Id="R1e1b36c6fb0f40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94db44933d4537" /><Relationship Type="http://schemas.openxmlformats.org/officeDocument/2006/relationships/notesMaster" Target="/ppt/notesMasters/notesMaster1.xml" Id="R8ca602a124934e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ac5f6b32694774" /><Relationship Type="http://schemas.openxmlformats.org/officeDocument/2006/relationships/notesMaster" Target="/ppt/notesMasters/notesMaster1.xml" Id="R5c1a78118ccb43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fdc33f3d9d4956" /><Relationship Type="http://schemas.openxmlformats.org/officeDocument/2006/relationships/notesMaster" Target="/ppt/notesMasters/notesMaster1.xml" Id="R7c1a979be8ae4c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3557ad9f06445e5" /><Relationship Type="http://schemas.openxmlformats.org/officeDocument/2006/relationships/notesMaster" Target="/ppt/notesMasters/notesMaster1.xml" Id="R55699c08b3a647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5feee2c1534aab" /><Relationship Type="http://schemas.openxmlformats.org/officeDocument/2006/relationships/notesMaster" Target="/ppt/notesMasters/notesMaster1.xml" Id="R9c35aa37cf614f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cc570aadf24221" /><Relationship Type="http://schemas.openxmlformats.org/officeDocument/2006/relationships/notesMaster" Target="/ppt/notesMasters/notesMaster1.xml" Id="Rb27ce3365ec8441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ce926b35a6e4a2e" /><Relationship Type="http://schemas.openxmlformats.org/officeDocument/2006/relationships/notesMaster" Target="/ppt/notesMasters/notesMaster1.xml" Id="R91636eb4c7b84c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d746697426412c" /><Relationship Type="http://schemas.openxmlformats.org/officeDocument/2006/relationships/notesMaster" Target="/ppt/notesMasters/notesMaster1.xml" Id="R88a910a891bf4c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7efc6d4b5424bb2" /><Relationship Type="http://schemas.openxmlformats.org/officeDocument/2006/relationships/notesMaster" Target="/ppt/notesMasters/notesMaster1.xml" Id="Rb20c6d79921540b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a9bf5091aa84d16" /><Relationship Type="http://schemas.openxmlformats.org/officeDocument/2006/relationships/notesMaster" Target="/ppt/notesMasters/notesMaster1.xml" Id="R453ddd66d0fd44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16928b9b64c473c" /><Relationship Type="http://schemas.openxmlformats.org/officeDocument/2006/relationships/notesMaster" Target="/ppt/notesMasters/notesMaster1.xml" Id="R1c36a441955447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21b83e3f43b4dc8" /><Relationship Type="http://schemas.openxmlformats.org/officeDocument/2006/relationships/notesMaster" Target="/ppt/notesMasters/notesMaster1.xml" Id="Rfe68d68cb0bb41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2521faafe2c483c" /><Relationship Type="http://schemas.openxmlformats.org/officeDocument/2006/relationships/notesMaster" Target="/ppt/notesMasters/notesMaster1.xml" Id="R556410a54fdd44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412b3867ca84816" /><Relationship Type="http://schemas.openxmlformats.org/officeDocument/2006/relationships/notesMaster" Target="/ppt/notesMasters/notesMaster1.xml" Id="R11b97b0d838146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beb9c7e2644b2f" /><Relationship Type="http://schemas.openxmlformats.org/officeDocument/2006/relationships/notesMaster" Target="/ppt/notesMasters/notesMaster1.xml" Id="Rcc9b7cd53a85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 min</a:t>
            </a:r>
          </a:p>
          <a:p xmlns:a="http://schemas.openxmlformats.org/drawingml/2006/main">
            <a:r>
              <a:t>Cel: Ustawić zakres i profesjonalny ton szkolenia.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Przedstaw warsztat jako historię decyzji inżynierskiej, nie przegląd biblioteki. Zapowiedz, że użyjemy własnego bankowego eksperymentu i pokażemy również wynik negatywny.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Zbudować napięcie wokół FC-209.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wyjaśniaj jeszcze guarda. Pokaż, że struktura i arytmetyka mogą być poprawne, a decyzja biznesowa błędna. Poproś grupę, aby zapamiętała to zdanie.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Która metryka ujawni taki błąd, jeśli schema validity wynosi 100%?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repo:data/diagnostic/diagnostic_set_v1.jsonl#FC-209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Sukces ma trzy niezależne wymiary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Wyjaśnij, że decyzja, dowód i kontrakt wymagają osobnych testów. Bezpieczeństwo procesu będzie warstwą nadrzędną, której nie wolno redukować do jednej liczby.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Przejście: Najpierw określimy, co system może robić.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repo:docs/05_baseline_results.md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2 min</a:t>
            </a:r>
          </a:p>
          <a:p xmlns:a="http://schemas.openxmlformats.org/drawingml/2006/main">
            <a:r>
              <a:t>Cel: Copilot wspiera kontrolera — nie zatwierdza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Wyraźnie oddziel wspomaganie od automatycznej decyzji. To ograniczenie będzie później uzasadniało human review i protected gate.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Jedna historia: zachowanie → trening → dowód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Zaznacz przerwę po części QLoRA. Uczestnicy nie konfigurują środowisk; analizują decyzje i obserwują prawdziwy trening.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Czy brakuje wiedzy, czy zachowania?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najważniejsze pytanie diagnostyczne przed wyborem PEFT. Wiedzę zmienną zwykle dostarcza kontekst lub retrieval; stabilne zachowanie może trafić do adaptera.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Która część waszego procesu zmienia się co tydzień?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Każda interwencja rozwiązuje inny problem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Omów kolejność od najtańszej do najbardziej inwazyjnej interwencji. RAG i PEFT mogą działać razem — jeden dostarcza fakty, drugi sposób działania.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repo:docs/01_training_blueprint.md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Rank, alpha i dropout działają razem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Omów zależności zamiast katalogu domyślnych wartości. Wspomnij, że rsLoRA zmienia skalowanie na alpha/sqrt(r).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QLoRA: 4-bitowy base, gradient do adaptera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Przejdź dokładnie przez przepływ: zamrożone wagi są dekwantyzowane do typu obliczeń, gradient przechodzi przez model, ale aktualizuje adapter.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5 min</a:t>
            </a:r>
          </a:p>
          <a:p xmlns:a="http://schemas.openxmlformats.org/drawingml/2006/main">
            <a:r>
              <a:t>Cel: Referencyjna konfiguracja mieści 4B w 7,55 GiB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Czytaj konfigurację od ograniczeń: 12 GiB VRAM, brak truncation, completion-only loss. Liczby czasu są lokalnym wynikiem projektu, nie uniwersalnym benchmarkiem sprzętu.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https://huggingface.co/docs/transformers/v4.42.4/quantization/bitsandbytes</a:t>
            </a:r>
          </a:p>
          <a:p xmlns:a="http://schemas.openxmlformats.org/drawingml/2006/main">
            <a:r>
              <a:t>- https://huggingface.co/docs/peft/main/conceptual_guides/lora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Pokazać zweryfikowany pipeline, bez przedstawiania mini-treningu jako dowodu jakości biznesowej.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Pokaż fakty: 50 przypadków, rank 8, 12 kroków, 114,361 s, peak GPU 7,487 GiB i zero truncation. Wagi adaptera mają 33,1 MB. Fresh reload przeszedł 1/1 przy limicie 384 tokenów. Jakość nadal oceniamy na pełnym Q1 i protected evidence.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repo:results/sprint3/q1_demo_training_metrics.json</a:t>
            </a:r>
          </a:p>
          <a:p xmlns:a="http://schemas.openxmlformats.org/drawingml/2006/main">
            <a:r>
              <a:t>- repo:results/sprint3/q1_demo_adapter_manifest.json</a:t>
            </a:r>
          </a:p>
          <a:p xmlns:a="http://schemas.openxmlformats.org/drawingml/2006/main">
            <a:r>
              <a:t>- repo:results/sprint3/q1_demo_reload_smoke_metrics.json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Trening obserwujemy w trzech warstwach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 tych trzech warstwach pilnuj pięciu sygnałów: loss, gradient, VRAM, czas i truncation. Po biegu dochodzi test adaptera przez reload. Loss nie jest bramką jakości biznesowej.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4 min</a:t>
            </a:r>
          </a:p>
          <a:p xmlns:a="http://schemas.openxmlformats.org/drawingml/2006/main">
            <a:r>
              <a:t>Cel: Q1 zamraża warunki eksperymentu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Pokaż plik konfiguracji w repo. Zwróć uwagę, że długość 1728 wynika z audytu tokenów, a nie z domyślnej wartości.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repo:configs/qlora_q1_v1.json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Błędy mają różne przyczyny i różne remedia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Nie rób jednej poprawki na wszystkie błędy. Najpierw sklasyfikuj przyczynę: dane, prompt, model, guard czy niejednoznaczny gold.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repo:docs/16_sprint_4_2b_error_analysis_and_rerun_plan.md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Guard blokuje sprzeczność, nie naprawia odpowiedzi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Wyjaśnij dwa kontrakty: model quality pozostaje HOLD, a operational containment jest READY dla demonstracji. Nie mieszaj ich w jedną bramkę.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- repo:configs/deterministic_decision_rules_v1.json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7 min</a:t>
            </a:r>
          </a:p>
          <a:p xmlns:a="http://schemas.openxmlformats.org/drawingml/2006/main">
            <a:r>
              <a:t>Cel: Czy otwieramy protected evidence?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Oczekiwana decyzja: HOLD protected evidence, READY do materiału szkoleniowego. Retrospektywny guard nie jest niezależnym dowodem generalizacji.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repo:results/sprint4/m4_pretest_summary.md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Checkpoint może zawieść przy zapisie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To wartościowy element szkolenia: awaria checkpointu po poprawnym kroku treningu nie unieważnia metody, ale zmienia operacyjny kontrakt resume.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repo:results/sprint3/q0_checkpoint_incident.json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Portfel use case’ów wymaga różnych barier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Przykłady: kontrola sprawozdań, audyt, odchylenia, reklamacje, incydenty. Wysoka konsekwencja nie wyklucza LLM, lecz zwiększa wymagania.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repo:docs/02_financial_control_copilot.md</a:t>
            </a:r>
          </a:p>
          <a:p xmlns:a="http://schemas.openxmlformats.org/drawingml/2006/main">
            <a:r>
              <a:t>- https://arxiv.org/abs/2311.11944</a:t>
            </a:r>
          </a:p>
          <a:p xmlns:a="http://schemas.openxmlformats.org/drawingml/2006/main">
            <a:r>
              <a:t>- https://arxiv.org/abs/2109.00122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3 min</a:t>
            </a:r>
          </a:p>
          <a:p xmlns:a="http://schemas.openxmlformats.org/drawingml/2006/main">
            <a:r>
              <a:t>Cel: Adapter to tylko część model risk management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Połącz techniczne artefakty z właścicielstwem procesu. Manifest adaptera, dataset card i gate są dokumentami governance.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https://www.eba.europa.eu/publications-and-media/press-releases/eba-publishes-follow-report-use-machine-learning-internal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 min</a:t>
            </a:r>
          </a:p>
          <a:p xmlns:a="http://schemas.openxmlformats.org/drawingml/2006/main">
            <a:r>
              <a:t>Cel: Dane graniczne. Wiele metryk. Hybrydowa odpowiedzialność.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Wróć do FC-209. Trzy prawdy: dane zmieniły Q1; jedna metryka nie wystarczyła; deterministyczny guard zatrzymał błąd, którego prompt nie usunął.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Którą jedną rzecz zmienicie w następnym eksperymencie?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Czas: 1 min</a:t>
            </a:r>
          </a:p>
          <a:p xmlns:a="http://schemas.openxmlformats.org/drawingml/2006/main">
            <a:r>
              <a:t>Cel: Dane graniczne. Wiele metryk. Hybrydowa odpowiedzialność.</a:t>
            </a:r>
          </a:p>
          <a:p xmlns:a="http://schemas.openxmlformats.org/drawingml/2006/main">
            <a:r>
              <a:t>Przebieg:</a:t>
            </a:r>
          </a:p>
          <a:p xmlns:a="http://schemas.openxmlformats.org/drawingml/2006/main">
            <a:r>
              <a:t>Wróć do FC-209. Trzy prawdy: dane zmieniły Q1; jedna metryka nie wystarczyła; deterministyczny guard zatrzymał błąd, którego prompt nie usunął.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Pytanie do grupy: Którą jedną rzecz zmienicie w następnym eksperymencie?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repo:docs/12_sprint_3_report.md</a:t>
            </a:r>
          </a:p>
          <a:p xmlns:a="http://schemas.openxmlformats.org/drawingml/2006/main">
            <a:r>
              <a:t>- repo:results/sprint4_2b/comparison.md</a:t>
            </a:r>
          </a:p>
          <a:p xmlns:a="http://schemas.openxmlformats.org/drawingml/2006/main">
            <a:r>
              <a:t>- repo:results/sprint4_2c/report.md</a:t>
            </a:r>
          </a:p>
          <a:p xmlns:a="http://schemas.openxmlformats.org/drawingml/2006/main">
            <a:r>
              <a:t>- https://arxiv.org/abs/2106.09685</a:t>
            </a:r>
          </a:p>
          <a:p xmlns:a="http://schemas.openxmlformats.org/drawingml/2006/main">
            <a:r>
              <a:t>- https://arxiv.org/abs/2305.14314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743bf6f6146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257f86aa1544b6" /><Relationship Type="http://schemas.openxmlformats.org/officeDocument/2006/relationships/slideLayout" Target="/ppt/slideLayouts/slideLayout1.xml" Id="Rdff77c59e4b34b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f77c59e4b34b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b763969dc41c1" /><Relationship Type="http://schemas.openxmlformats.org/officeDocument/2006/relationships/notesSlide" Target="/ppt/notesSlides/notesSlide1.xml" Id="R83e3366e420e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f0c37508a4620" /><Relationship Type="http://schemas.openxmlformats.org/officeDocument/2006/relationships/notesSlide" Target="/ppt/notesSlides/notesSlide2.xml" Id="R5dacfc0a46f14e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9d065564514883" /><Relationship Type="http://schemas.openxmlformats.org/officeDocument/2006/relationships/notesSlide" Target="/ppt/notesSlides/notesSlide3.xml" Id="Re497af3fa9b24d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145a5aed2436c" /><Relationship Type="http://schemas.openxmlformats.org/officeDocument/2006/relationships/notesSlide" Target="/ppt/notesSlides/notesSlide4.xml" Id="R1af8cdc8ced2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873944f3f4bd5" /><Relationship Type="http://schemas.openxmlformats.org/officeDocument/2006/relationships/notesSlide" Target="/ppt/notesSlides/notesSlide5.xml" Id="R9005642cf0314b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2910765b74394" /><Relationship Type="http://schemas.openxmlformats.org/officeDocument/2006/relationships/notesSlide" Target="/ppt/notesSlides/notesSlide6.xml" Id="R3ff8bfcf80184c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9143c62424c2e" /><Relationship Type="http://schemas.openxmlformats.org/officeDocument/2006/relationships/notesSlide" Target="/ppt/notesSlides/notesSlide7.xml" Id="R11c81dcd487242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39207e1394c35" /><Relationship Type="http://schemas.openxmlformats.org/officeDocument/2006/relationships/notesSlide" Target="/ppt/notesSlides/notesSlide8.xml" Id="R5cb1de6efeb94c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80eaa1ba4619" /><Relationship Type="http://schemas.openxmlformats.org/officeDocument/2006/relationships/notesSlide" Target="/ppt/notesSlides/notesSlide9.xml" Id="R1cb526d086ec4d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cebbe03bc463f" /><Relationship Type="http://schemas.openxmlformats.org/officeDocument/2006/relationships/notesSlide" Target="/ppt/notesSlides/notesSlide10.xml" Id="R57e545c3bdd64b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0cc82f5d04a2e" /><Relationship Type="http://schemas.openxmlformats.org/officeDocument/2006/relationships/notesSlide" Target="/ppt/notesSlides/notesSlide11.xml" Id="R1eb4731d377f4c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12e450ef3484b" /><Relationship Type="http://schemas.openxmlformats.org/officeDocument/2006/relationships/notesSlide" Target="/ppt/notesSlides/notesSlide12.xml" Id="R53cb680d1bd142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c9f8d1c8f4fcc" /><Relationship Type="http://schemas.openxmlformats.org/officeDocument/2006/relationships/notesSlide" Target="/ppt/notesSlides/notesSlide13.xml" Id="Rec707e1da09343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0314fc7ed4743" /><Relationship Type="http://schemas.openxmlformats.org/officeDocument/2006/relationships/notesSlide" Target="/ppt/notesSlides/notesSlide14.xml" Id="Rb4b676a4747a45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fc3a4e49a476d" /><Relationship Type="http://schemas.openxmlformats.org/officeDocument/2006/relationships/notesSlide" Target="/ppt/notesSlides/notesSlide15.xml" Id="R213f0147bdf245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03e828074454" /><Relationship Type="http://schemas.openxmlformats.org/officeDocument/2006/relationships/notesSlide" Target="/ppt/notesSlides/notesSlide16.xml" Id="R8fa23a5c2de147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ffc0007944214" /><Relationship Type="http://schemas.openxmlformats.org/officeDocument/2006/relationships/notesSlide" Target="/ppt/notesSlides/notesSlide17.xml" Id="R0e0e22f19345469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ae9f11d074ae6" /><Relationship Type="http://schemas.openxmlformats.org/officeDocument/2006/relationships/notesSlide" Target="/ppt/notesSlides/notesSlide18.xml" Id="Re3627515c65c47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925fbfd334dda" /><Relationship Type="http://schemas.openxmlformats.org/officeDocument/2006/relationships/notesSlide" Target="/ppt/notesSlides/notesSlide19.xml" Id="R6be97f6bc04449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1a1797b304f4c" /><Relationship Type="http://schemas.openxmlformats.org/officeDocument/2006/relationships/notesSlide" Target="/ppt/notesSlides/notesSlide20.xml" Id="R76f758139e0a46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17564684c41b7" /><Relationship Type="http://schemas.openxmlformats.org/officeDocument/2006/relationships/notesSlide" Target="/ppt/notesSlides/notesSlide21.xml" Id="R0568c21349ba4c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fb21a93304d3c" /><Relationship Type="http://schemas.openxmlformats.org/officeDocument/2006/relationships/notesSlide" Target="/ppt/notesSlides/notesSlide22.xml" Id="R0e2c11f08af7485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be5a3d6a148ef" /><Relationship Type="http://schemas.openxmlformats.org/officeDocument/2006/relationships/notesSlide" Target="/ppt/notesSlides/notesSlide23.xml" Id="Rbac3afb21c9849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749ef2faa487e" /><Relationship Type="http://schemas.openxmlformats.org/officeDocument/2006/relationships/notesSlide" Target="/ppt/notesSlides/notesSlide24.xml" Id="Rdf52d884adc14a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9a68c972b4ad4" /><Relationship Type="http://schemas.openxmlformats.org/officeDocument/2006/relationships/notesSlide" Target="/ppt/notesSlides/notesSlide25.xml" Id="R21ce1368c3234f9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90d93cee342d7" /><Relationship Type="http://schemas.openxmlformats.org/officeDocument/2006/relationships/notesSlide" Target="/ppt/notesSlides/notesSlide26.xml" Id="R4674716bb91548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0B5C3-2F0F-4D8C-AC75-A9384237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21453-491E-42FC-BC64-7627B0EE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WARSZTAT • 180 MINUT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FAF92-C4B0-4EF1-8B90-6D60563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3830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Parameter-Efficient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Fine-Tuning w banku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8C1BC-23C4-423A-828C-CD6ABC2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Od LoRA i QLoRA do wiarygodnego benchmarku oraz bezpiecznej architektury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E1D63-29AD-4986-8FB1-E1FC2C76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LoRA • QLoRA • dane • benchmark • guard</a:t>
            </a:r>
          </a:p>
        </p:txBody>
      </p:sp>
    </p:spTree>
    <p:extLst>
      <p:ext uri="{BB962C8B-B14F-4D97-AF65-F5344CB8AC3E}">
        <p14:creationId xmlns:p14="http://schemas.microsoft.com/office/powerpoint/2010/main" val="370255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FAF6-44D6-4C7B-B219-BAB0B548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54907-9CB2-4930-8B01-64033B6B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28EE7-2539-425D-84BF-33B6955E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policzył 27. Potem uznał, że 27 ≤ 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E7707-3EA8-4D3E-93CB-F717564A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C644D-B383-4AA6-941A-C60FF50D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Trzy seedy, ten sam błąd, poprawny JSON i poprawne źródła. To będzie nasz test rzeczywistości.</a:t>
            </a:r>
          </a:p>
        </p:txBody>
      </p:sp>
    </p:spTree>
    <p:extLst>
      <p:ext uri="{BB962C8B-B14F-4D97-AF65-F5344CB8AC3E}">
        <p14:creationId xmlns:p14="http://schemas.microsoft.com/office/powerpoint/2010/main" val="10388244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EC275-D040-4C2C-A69F-205DBA7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27B5E-995C-41CB-AE5D-320B29F4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60E99-49C2-469F-A94C-99ACCBA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Sukces ma trzy niezależne wymiary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87912-CE99-45D4-85B4-AD913082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752CE-9294-4AB6-BB55-38C739D7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6EEE0-E366-407E-9960-84AF15B6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4097A-48D1-4B10-BB77-21FE7515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status odpowiada przesłankom i kosztowi błędu?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284D2-65F0-4284-8A86-6FDC877D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C33BE-BA2B-4E3E-BFC0-02EF6CA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0B372-023A-4C27-B40C-4A80E7534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Dowód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4783A-8458-4033-B8BD-D7435ABE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wynik wskazuje dozwolone, wystarczające źródła?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4A0107-F7A9-409F-A519-F69CA275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3CD51-2020-4303-AA50-59BC1756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5DF8D-DEA1-4213-BC62-702B0B3F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Kontrakt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FB5AE-5D64-44C2-90D9-EE2F6430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JSON, severity i human review są spójne?</a:t>
            </a:r>
          </a:p>
        </p:txBody>
      </p:sp>
    </p:spTree>
    <p:extLst>
      <p:ext uri="{BB962C8B-B14F-4D97-AF65-F5344CB8AC3E}">
        <p14:creationId xmlns:p14="http://schemas.microsoft.com/office/powerpoint/2010/main" val="251917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A438A-1DCC-4DFB-8790-87AD1F92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03A2F-B33A-4127-B902-AD57E57B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2A929-FCE3-4B16-81DC-21D651B6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Copilot wspiera kontrolera — nie zatwierdza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B1782-CA6F-4E5A-8D33-5341FA61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CFFCE-3B7D-4CB2-B8E3-88171E5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LLM + adapter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12441-938C-4970-8C83-34694D9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klasyfikuje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porządkuje ustalenie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cytuje dowody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proponuje eskalację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F26E2-1B5D-4059-9601-3E5484C9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F3839-567A-4328-8E5A-EDF0A641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Poza zakresem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850DD-10E4-4CD0-8001-3BEE6D18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zatwierdzenie sprawozdania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zaksięgowanie korekty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decyzja regulacyjna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decyzja kredytowa</a:t>
            </a:r>
          </a:p>
        </p:txBody>
      </p:sp>
    </p:spTree>
    <p:extLst>
      <p:ext uri="{BB962C8B-B14F-4D97-AF65-F5344CB8AC3E}">
        <p14:creationId xmlns:p14="http://schemas.microsoft.com/office/powerpoint/2010/main" val="1167797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2C233-9AFB-4F4C-840E-D3C27BA4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OTWARCIE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89699-8730-42E1-A1E0-E3CDE1F6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A91DB-D8D9-44E4-A797-7E06EB72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Jedna historia: zachowanie → trening → dowód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D0B34-246F-4538-BF97-3910FF0C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AF0C5-ACD2-438D-A54A-1DFB50F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0–80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340911-E6DC-4823-BC14-4C9E6836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Mechanika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9E520-05F9-4D1A-86D8-A7E8473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Kiedy PEFT, jak działa LoRA i gdzie QLoRA oszczędza pamięć.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413A6-C038-4679-865A-A7D1E03F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6609E-4151-4C30-ACE6-9DF21D83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90–148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59555-DB39-4DF0-8463-1877445C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Warsztat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72047-13CB-4B54-8685-C4C187D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Dane graniczne, konfiguracja, trening, adapter i reload.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57DCA-0753-4C95-B113-9108C86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E8D12-FA32-4032-A418-EFEB7A76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148–180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FB6FB-684F-4A0B-8BF4-FABF675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D8139-F9EC-45A3-ADFF-76FC612C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Benchmark, FC-209, guard oraz bankowy operating model.</a:t>
            </a:r>
          </a:p>
        </p:txBody>
      </p:sp>
    </p:spTree>
    <p:extLst>
      <p:ext uri="{BB962C8B-B14F-4D97-AF65-F5344CB8AC3E}">
        <p14:creationId xmlns:p14="http://schemas.microsoft.com/office/powerpoint/2010/main" val="744055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CDCBD-2D9C-4666-A8CF-84DD816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DOBÓR METODY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18B35-6445-420D-961E-6CAF0E78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7A731-7BEB-401E-8DAE-B973F39B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Czy brakuje wiedzy, czy zachowania?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0074-6EDA-4B58-9B92-0D78C6C3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097F-2981-4D20-9090-277BB86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Wiedza zmienna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4762E-8683-4B9E-B678-D7EDBE3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procedury i regulaminy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bieżące dane klienta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wersje raportów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progi z polityki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8C48F-3C4A-47EC-B863-7ADE6C5E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44A64-A36E-4A64-96E5-3FE18FA0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Zachowanie stabilne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DE4FA-BE11-4C02-B776-B91FDFA3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format odpowiedzi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styl ustalenia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hierarchia statusów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zasady eskalacji</a:t>
            </a:r>
          </a:p>
        </p:txBody>
      </p:sp>
    </p:spTree>
    <p:extLst>
      <p:ext uri="{BB962C8B-B14F-4D97-AF65-F5344CB8AC3E}">
        <p14:creationId xmlns:p14="http://schemas.microsoft.com/office/powerpoint/2010/main" val="2033830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BB7997-9757-4804-9D69-3A9303AE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DOBÓR METODY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A6643-1B63-469D-BC80-89DF23D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887A8-3660-44E8-B468-BA176E0E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Każda interwencja rozwiązuje inny problem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BA52C-1CCF-47DA-83C1-91FCFDBB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BB8DA-294B-4AE8-94B1-74E76702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A199F-CEED-4B46-86F7-137F51C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B6B06-9E64-421F-A20B-AC3D54E9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Pierwszy wybór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262C6-42B9-4C5C-B267-3E7C632A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09750"/>
            <a:ext cx="501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5CFE9-B672-452B-A89B-711A6B10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481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Sygnał ostrzegawczy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4762B-17E2-4E47-A0B7-BFADF882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08D9B1-4612-463F-97B2-534C887C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Lepsza instrukcja i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D5DF0-2340-437A-92F8-8AD98FAC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622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28197E-DD01-4FB2-BD21-2D714621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765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840FD-0592-4C24-A86D-478169B7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622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1406C-0897-4252-83A9-5CF6357B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Długi prompt w każdym wywołaniu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88C07-2ACC-4A40-B847-665F4E0B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6472A-E83A-4ADF-8571-A13A7102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Aktualne dokumenty i fakty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ADA7D-FBDB-4267-82C5-71E4E69F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718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69D71-FEAC-45E8-AF3A-A8A334D8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861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23D3B4-63CE-41DD-B16E-3D4E1FA2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9260C-A61A-4B90-AFD3-3CEDE063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861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 nie uczy procedury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894E4A-9ECC-4989-BE8D-644DC642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1CF172-F73B-4065-A52C-53DB261C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Stabilne zachowanie domenowe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B9267C-72DD-4376-BD86-A3F98A7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814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4F017-29F2-4A4F-9690-BEDF9DE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957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SFT + PEFT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8123B-DD03-4136-9FC3-789B8BC4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5814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8582DC-321D-4B86-A69B-6B851740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957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Potrzebne goldy i benchmark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148CB1-97E6-41F8-9D37-C343E621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390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015AC7-2921-4953-BDB0-EE84959E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Nowy rozkład języka domeny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C13DA-B6AB-4AB4-A763-7189237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106DB5-0B28-4514-9622-D3579982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Continued pretraining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BBD68A-8AEA-492D-B983-6FE79D9C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5010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11AA1C-237E-4046-A2E6-CF3597ED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05300"/>
            <a:ext cx="481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Wysoki koszt i ryzyko driftu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F0FC82-4FBB-4568-B13A-B85A5A4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Pełny fine-tuning jest opcją architektoniczną, a nie domyślnym punktem startu.</a:t>
            </a:r>
          </a:p>
        </p:txBody>
      </p:sp>
    </p:spTree>
    <p:extLst>
      <p:ext uri="{BB962C8B-B14F-4D97-AF65-F5344CB8AC3E}">
        <p14:creationId xmlns:p14="http://schemas.microsoft.com/office/powerpoint/2010/main" val="1183413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4E85C7-300F-4B0F-A6F1-644759B5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9CCAF-D2AA-453C-B69B-8930D8FE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E2CAB-C35A-46BF-8863-0DBA9D90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Rank, alpha i dropout działają razem</a:t>
            </a:r>
          </a:p>
        </p:txBody>
      </p:sp>
      <p:cxnSp>
        <p:nvCxnSpPr>
          <p:cNvPr id="54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8F601-E52F-475F-9F75-EF25393C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1FCC1-E148-4868-B9E0-8304F62D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FE5E3-6353-4CD5-B03C-81B144A3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1CA516-8791-4C66-A834-F1E38C9A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431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 reguluje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72EEF-3B37-46A4-960A-50EA5F7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5200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B65AD0-2C9A-426D-9819-40B80ACA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43100"/>
            <a:ext cx="501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Typowy błąd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75766-730F-403D-9B4F-BC2FC9AC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72F33-771C-449F-BDD2-86BE26D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F4853E-1C5C-4B8D-BDAB-04CF90B9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622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67111-2EE1-4744-A280-A5D68F7C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765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pojemność aktualizacji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D224B-6CB4-40BE-9CD2-703263E5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D557E7-4A87-4F5A-BFD5-C1EE666B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sweep bez danych granicznych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BB9BF-7DA6-4AA6-9433-6F5C0E23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C1936-6F78-4415-BC2B-950FFFCC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alpha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6B5A1E-9868-46F4-B0D8-60CDB36B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12E5B-B65B-4E2B-AB0E-8B80E273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86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skalę ΔW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A6F37B-802F-4AE7-A4AB-19D7972D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9F363-8A6F-4051-89D8-AB8590B6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861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kopiowanie wartości między modelami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DA89E-89F7-4602-97D8-6BCD922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EEE49D-5546-43D4-9C9E-B3A1F23A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dropout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4E297-93A2-4D58-BFAF-5AB81736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876C2-FBF9-4F25-88E5-D883E716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regularizację adaptera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2DD2E-FF38-4A86-8C35-FC9F0534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7BA4AC-1EC4-43E4-B0AA-B3987466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957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dodawanie go bez diagnozy overfittingu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8B8445-6EF2-4840-A7F0-B5011737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3EA9A-2AB5-4478-BB93-EA268BDD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529E7-D17B-42B8-9D3A-26839FC3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191000"/>
            <a:ext cx="4095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D3ACF1-9E64-4BED-A6A6-CF37BB14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053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punkt startu adaptera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D69153-B416-4EF5-90ED-478CB0A5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91000"/>
            <a:ext cx="520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43E230-BA7B-4767-A7E9-B896467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testu, czy adapter startuje jako no-op</a:t>
            </a:r>
          </a:p>
        </p:txBody>
      </p:sp>
    </p:spTree>
    <p:extLst>
      <p:ext uri="{BB962C8B-B14F-4D97-AF65-F5344CB8AC3E}">
        <p14:creationId xmlns:p14="http://schemas.microsoft.com/office/powerpoint/2010/main" val="10613072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12D1D-3E2E-4522-9AA3-2683BCF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7E1AA-9559-48E1-9AD1-02701F5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91C73-D0A9-47F8-BEE0-AAEFD695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QLoRA: 4-bitowy base, gradient do adaptera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90FB55-8DD2-4B36-85F8-F90DE6E8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2E6C0-8C27-429A-83C8-77D87BAD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16987-7927-4599-96B0-CB6E8671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D5C6-0EBA-4377-B2EE-95889EC2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8D8AC-8097-4216-BD8D-84C550C0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A7410-DC51-464D-94EB-C9A6991D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NF4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4165E-2A91-4396-BA77-6AB2F2A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zamrożone wagi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74E20-CBEF-40FF-807E-AFB570D2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9AF3F-A4F2-416B-A9A2-28072066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B69006-7242-471D-A90E-8E6887EB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BF16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00F32-4634-4C97-8815-0A2BDFFC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operacje forward/backward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81863-5CDF-4814-AD9A-6F0F6E3E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D614F-2BB4-493A-B3C4-6D0603C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26B18-D0B4-4706-9EDC-7CE6838F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6AF9F-C220-4026-8B05-5CE483C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 i B z gradientem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8EF90-B741-4F11-942A-328DC15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8CD6D4-01B2-4B2E-8119-EFEB8D01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28CB0-19AA-4345-987D-B6D75B20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014A4-11EF-42C3-8CD8-41CA011B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mały artefakt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328203-BD2A-4856-92F6-ABF9856E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Kwantyzacja zmniejsza pamięć wag bazowych; nie zamienia całego treningu w int4.</a:t>
            </a:r>
          </a:p>
        </p:txBody>
      </p:sp>
    </p:spTree>
    <p:extLst>
      <p:ext uri="{BB962C8B-B14F-4D97-AF65-F5344CB8AC3E}">
        <p14:creationId xmlns:p14="http://schemas.microsoft.com/office/powerpoint/2010/main" val="541409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1992B-BEAC-49EF-96DC-3A062E8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QLORA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70D23-1A59-4CCE-838F-CD99314A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929BC-B595-48DE-8FF5-839EA442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Referencyjna konfiguracja mieści 4B w 7,55 GiB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F6C96-AEFC-4030-8CDB-9E844D61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70675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F4241-6809-443C-B904-43CFA2C2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572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BitsAndBytesConfig(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load_in_4bit=True,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bnb_4bit_quant_type="nf4",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bnb_4bit_use_double_quant=True,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bnb_4bit_compute_dtype=torch.bfloat16,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LoraConfig(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r=16, lora_alpha=32,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target_modules="all-linear",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bias="none",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D14C2-2A33-42E5-9E28-88CAA85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Q1 — pełny bieg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273EC-0B3A-4ACD-976E-EEF11C03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640 przykładów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240 kroków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88 min 22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7,55 GiB peak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0 truncation</a:t>
            </a:r>
          </a:p>
        </p:txBody>
      </p:sp>
    </p:spTree>
    <p:extLst>
      <p:ext uri="{BB962C8B-B14F-4D97-AF65-F5344CB8AC3E}">
        <p14:creationId xmlns:p14="http://schemas.microsoft.com/office/powerpoint/2010/main" val="6078493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DE8D4-BCC5-4C6E-8BE5-15FB5CB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DEA07-5F34-4C24-A34B-1DDBA9F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12DD8-784B-4928-ACF8-5655F7DF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 potwierdziło pipeline w 114 sekund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52ADB3-EDDC-40DE-AAE6-60D0295F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D0F4B-F58B-4E47-9B64-AFB482DC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E3D44-A3F3-4503-8369-8D80918F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 kroków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A4D62-EA9D-462A-9595-804E60E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50 przypadków, rank 8 i realny update adaptera.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80CFF-CC53-41CB-A0D1-9166B88B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7A31CA-5A20-4B52-8FE1-1A193A6C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49022-F0FA-4243-95C9-20FA38E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7,487 GiB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7AF8C-356B-471A-9C05-9D958422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Zero truncation; wagi adaptera 33,1 MB.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08B02-9EF1-40B5-90B9-6883DF51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A49EE-D835-4469-85CB-4F57B34F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RELOAD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EE1F9-2913-470E-84BD-B6654431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Reload 1/1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47AB6-8C2E-46BD-A848-52CE909A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Przy 384 tokenach: JSON, schema i źródła 100%.</a:t>
            </a:r>
          </a:p>
        </p:txBody>
      </p:sp>
    </p:spTree>
    <p:extLst>
      <p:ext uri="{BB962C8B-B14F-4D97-AF65-F5344CB8AC3E}">
        <p14:creationId xmlns:p14="http://schemas.microsoft.com/office/powerpoint/2010/main" val="894666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93BAD2-0A31-42D0-881E-06FDBABF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4E73B-30DA-4C18-9E06-196B6985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B614B-6DB6-4215-A35E-54D7886C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Trening obserwujemy w trzech warstwach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3B47E-6D5C-43DD-BF41-0C29E12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D885B-BDCE-453F-BA8F-E1048A51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UCZENIE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73227-9FE1-4F80-A0A9-C5D422B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 + gradient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0F0BD-3572-4FF8-8495-07A2BCD0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model faktycznie uczy się i czy gradient jest stabilny?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0B5C8-BCFE-4FE6-8A11-B7D9AA8A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324FEC-BE6F-459D-8A32-162AD034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ZASOBY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50B03-8BFC-4CB4-AC79-75C09B82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VRAM + czas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1D9FD-2885-42F8-BD3B-3341400D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bieg mieści się w budżecie demonstracji?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D1199-1909-4C3F-8986-B63F8E7E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62295-E2F9-405C-A011-1A8C5C1A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E976D-33C8-45BE-91CF-31B31C9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Truncation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96CD0-7570-4B86-8B48-702DCDBB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Czy prompt i gold nie zostały ucięte?</a:t>
            </a:r>
          </a:p>
        </p:txBody>
      </p:sp>
    </p:spTree>
    <p:extLst>
      <p:ext uri="{BB962C8B-B14F-4D97-AF65-F5344CB8AC3E}">
        <p14:creationId xmlns:p14="http://schemas.microsoft.com/office/powerpoint/2010/main" val="7723038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A885C-62CE-411B-A535-0D5AA38B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A4138-7ACD-4D93-94D6-B5CFAA7C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751C7-C422-4588-A327-E49D257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Q1 zamraża warunki eksperymentu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81DC5-F258-40B8-9C7D-FCC8426B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706755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927D7-CECD-4488-A0AC-51EF63F7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6572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model: Qwen3-4B-Instruct-2507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quantization: NF4 + double quant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compute: BF16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LoRA: r=16, alpha=32, all-linear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train: 640 cases, 3 epochs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effective batch: 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max length: 1728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loss: completion-only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truncation: forbidden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3E19D-E135-4946-A9E3-1E04C15D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431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Dlaczego to ważne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D5442-0C42-4348-844D-F5B017DE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524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Q0 i Q1 różnią dane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test pozostaje zamknięty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prompt inferencji ten sam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adapter-only checkpoints</a:t>
            </a:r>
          </a:p>
        </p:txBody>
      </p:sp>
    </p:spTree>
    <p:extLst>
      <p:ext uri="{BB962C8B-B14F-4D97-AF65-F5344CB8AC3E}">
        <p14:creationId xmlns:p14="http://schemas.microsoft.com/office/powerpoint/2010/main" val="9488635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DD0B96-E6BB-42F7-93C8-E87A2C11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AFCFE-4392-4898-9B32-A8F10D51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B0547-2A75-4A8D-9D68-089705F2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Błędy mają różne przyczyny i różne remedia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6B8DD-2689-425D-A93C-7E1A6301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5609-A0B7-43DE-AFCE-C88947D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B730D-15D7-47B9-8CFB-A8E77C29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09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53C7E-BA12-4C7E-815A-4BD84385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43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Błąd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DE211-7915-4C1E-8244-8D35DE4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6FB79-D7CA-4EAF-A177-04A1487D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43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Diagnoza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CB02B-EF73-4F1A-AEC7-45D7E5FA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3105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CFBD3-7829-4B09-B256-95E27ADB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431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Warstwa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BFBAE-2436-4C20-BB37-805D1884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9557A1-CBA6-420A-9CB6-83396D6C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FC-209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AD156-64DE-4761-B71E-5560CB8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22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526EE-72BD-4DD1-A4E8-5A047FD5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76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3×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32D8C-CE61-4E19-A1A4-044EEF06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660A1-FC5E-4FF3-87E5-715208CD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odwrócenie 27 &gt;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5CBB27-6602-40AD-A1BE-73E712F7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622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184AC-9ED2-4A83-AD4B-69906DA4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deterministic guard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340BA-3F11-4BF3-8B63-0C0D290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94B21-6C7A-43BE-A16E-BA4CBAE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185F82-E3B8-4D0B-B37D-74B60A65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718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F45648-E434-4A74-B98F-D5D46249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861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1× WARN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EADE07-9090-411E-B663-3BE0061E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718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28EDA-51C6-4612-9152-D33F0362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861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pominięty zakres jednostkowy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53C9C-EB02-495B-AD00-8158775F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7BC7C-9A87-42FB-8B90-8CAA7B4C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/ dane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D4EF0F-7793-4C99-B786-CC3278BA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C92EB7-EE9D-42FE-92D6-BD581E98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FC-215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9FFA1-FE27-44A1-B41A-3FD0BB79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814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6507A-5112-48B1-941F-2773263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95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1× WARN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742BBB-4EA0-48D9-805B-DDAD67AA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814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B89B98-2B04-4A20-982A-0C439E6D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przeoczone jawne wyłączenie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983E8E-D606-4432-8F8C-590AC3E0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5F88F9-885F-464E-9F30-9FE2810A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957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prompt /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C5C9CB-2FF5-4082-AC19-2714AFA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F2DBAE6-1BFF-4675-968F-5ED266FF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8ACAE0-09CD-451D-A929-93AB78D1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910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139151-2FED-4823-B2EB-66BD89F1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305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2× WARN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6A424F-3EAC-4725-B50F-598EA8A9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D63C90-BEA4-4540-9EB3-772A976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brak pliku ≠ częściowa wada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04E2F0-C48D-43AD-9203-AED2F0B9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910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2FF513-8533-47F3-B90C-00EC6D19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053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boundary 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14F6EE-D9DA-4170-9D6B-1DB1E59E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1428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A44BB5-BFF5-4F0F-80A0-C929917C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FC-226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08043A-B179-4E3D-867A-61E19AE1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80060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AD7EDB-389A-40C5-9C69-573E4BFE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149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2× WARN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A2D818-4832-44DD-8EF5-4A209BB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4286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E069B1-8636-4FCE-BD75-D5A6AD8C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dokument poza zakresem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E4B5B5-EAA9-429F-829F-7D0ACA95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00600"/>
            <a:ext cx="3105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4808E34-3886-4A7C-84E6-81D04532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14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policy</a:t>
            </a:r>
          </a:p>
        </p:txBody>
      </p:sp>
    </p:spTree>
    <p:extLst>
      <p:ext uri="{BB962C8B-B14F-4D97-AF65-F5344CB8AC3E}">
        <p14:creationId xmlns:p14="http://schemas.microsoft.com/office/powerpoint/2010/main" val="17773500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BC5604-DA01-4DA6-8501-9A8F82BD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3CD581-EA5A-4AD9-8374-8D5AD96E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3EBE4-49AC-49A4-A0B0-849D6161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Guard blokuje sprzeczność, nie naprawia odpowiedzi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1522A-CE22-42FC-9C96-91DCACC2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8B839-3C9F-47FC-AF30-53F50F6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A30ED-D925-4083-9185-9B6A9451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7239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0B70A-5E95-48E0-A332-B15FFADB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1A51C-AEA0-4E18-BFEF-7E711E8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8ADE6-E544-4CC4-B162-272B179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7CA0F-9502-44C0-923A-20E643F7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calculation=27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12750-CC20-4745-9225-EB8FBF9A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1E9E7-FC8D-4B5B-98DC-1B782C93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RULE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CF353-486F-4F85-8836-77A78A46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27 &gt;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6F730-4C96-4C8E-9E87-873956B3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wymagany FAIL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8BD7C-FAE8-4E5B-9E38-A4C57C9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E33879-F39C-4161-B318-8CFE171C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9A2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99A24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7B40B-538C-488B-BEB0-65976B76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98E87-3684-471A-B58C-DB72A8D3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bez silent fix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13610-E25D-4F46-B19D-65FCA30E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81250"/>
            <a:ext cx="22098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81FE0-5DC3-4961-8CB8-5DDEC2BF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ED09F-A8A5-40D7-8755-AC9E1590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670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05013-3BDB-450A-96DC-DBB466F1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814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decyzja i audyt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3E48F-39EF-427A-8A22-CD59E207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Reguła powstała retrospektywnie: zwiększa bezpieczeństwo demo, ale nie otwiera protected evidence.</a:t>
            </a:r>
          </a:p>
        </p:txBody>
      </p:sp>
    </p:spTree>
    <p:extLst>
      <p:ext uri="{BB962C8B-B14F-4D97-AF65-F5344CB8AC3E}">
        <p14:creationId xmlns:p14="http://schemas.microsoft.com/office/powerpoint/2010/main" val="10908720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006F7F-BBCD-4970-8540-8D42B82D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1644-E82C-4D59-83D5-BAAD47BF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BENCHMARK • WARSZTAT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3BAF2-DF47-410F-AC35-2D9E6CFD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1CBD8-7346-49B8-B3CC-7792BD05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Czy otwieramy protected evidence?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60703-8A8F-4A70-BCE4-8A3650A5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7442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EA130-C78D-46DE-9C93-F69E2A87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0096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Validation: 1,000 F1 dla trzech seedów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Diagnostic: 0,834–0,949 macro-F1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FC-209: trzy błędne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Guard powstał po analizie diagnostic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419C8-92C0-40F5-87CD-FBB64FFA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Mini-komitet model risk • 5 minut • decyzja + uzasadnienie</a:t>
            </a:r>
          </a:p>
        </p:txBody>
      </p:sp>
    </p:spTree>
    <p:extLst>
      <p:ext uri="{BB962C8B-B14F-4D97-AF65-F5344CB8AC3E}">
        <p14:creationId xmlns:p14="http://schemas.microsoft.com/office/powerpoint/2010/main" val="10273826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9ABC9-5F61-40BF-B408-A3704284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91EC8-A606-4D0A-83F5-01FF0A6F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1E267-30AF-4360-B59E-D19D06DD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Checkpoint może zawieść przy zapisie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11532-158D-4A23-87C8-8068232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74872-2A11-4B23-B88A-D9461F47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Incydent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5895-B7DA-4ACF-B7CF-501D697B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Windows + paged_adamw_8bit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błąd serializacji stanu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pierwszy Q0 odrzucony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brak wejścia do M3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5E015-23D4-4865-8DF7-5AE8D737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90700"/>
            <a:ext cx="55435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53910-FF02-4619-BA17-20B834E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F1A8-8B41-4D0A-85FD-5269FA51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5219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save_only_model=true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bieg od początku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manifest incydentu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jawny brak resume optimizera</a:t>
            </a:r>
          </a:p>
        </p:txBody>
      </p:sp>
    </p:spTree>
    <p:extLst>
      <p:ext uri="{BB962C8B-B14F-4D97-AF65-F5344CB8AC3E}">
        <p14:creationId xmlns:p14="http://schemas.microsoft.com/office/powerpoint/2010/main" val="5646398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BE0C4-36C6-4EBF-A485-2DE4086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F3374-651F-48BC-AEA7-57689FB6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9D03C-2FBE-4A69-99F9-6C6DEF1E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Portfel use case’ów wymaga różnych barier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ACB79-CECE-48F5-9D0D-0E98292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8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2220A-F944-4D83-B9AA-31C483B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NISKA KONSEKWENCJA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C5E94-AAA5-4860-BB07-AF0AC54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Redakcja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3254D-D84D-4F4F-84BC-2485F749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Styl, format, klasyfikacja dokumentów i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E557A-60AB-4AB6-9C03-550A2DD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B4319-643D-4E37-9267-DAC1E03E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ŚREDNIA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9B70D-8928-49F9-9C44-750C1F30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AD5BC-E9B6-403F-8F58-45F752E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Ustalenia, kompletność i triage z human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591DF-9498-4985-B417-A7600A65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35433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F7699-97CD-4A4B-A5D0-94D732B1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WYSOKA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F6049-CAE5-4D84-8DA2-41CC48AE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Decyzje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93B20-FACD-4C9D-8987-15D61636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31242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Kredyt, AML i raportowanie — mocne ograniczenia i właściciel.</a:t>
            </a:r>
          </a:p>
        </p:txBody>
      </p:sp>
    </p:spTree>
    <p:extLst>
      <p:ext uri="{BB962C8B-B14F-4D97-AF65-F5344CB8AC3E}">
        <p14:creationId xmlns:p14="http://schemas.microsoft.com/office/powerpoint/2010/main" val="16211395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7BF4A-DC74-46E9-8678-7CA5A271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BANK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9A10B-5400-48EA-97A0-C89CAE87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52646-9E0B-4999-B448-34601693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91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Adapter to tylko część model risk management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00050" y="14097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95300" y="3257550"/>
            <a:ext cx="11144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FFA356-8FFB-405F-B220-8C2F8BA4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99E3D-A2DC-4A94-81B8-F632C285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4139F-34D2-4AED-818C-48F64875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Kontrakt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CD9C9-81D9-4567-B25C-D4DFBA4B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Intended use, status policy, dane i koszt błędu.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40502-6B8C-4B2B-AB58-1230BF18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AE408-F7E6-4BBD-B4FC-939B7F32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100C5-F33C-4A91-BDD1-F45367BF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94647-D486-4C53-897F-2F0E273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Seedy, splity, review SME, regresje i guardy.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FD45F-CD4B-4E7C-838F-BBD4680D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62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51E86-D899-49D3-9004-258A07E9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AA764-0419-4A06-A0AC-ACF33B9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385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9BC6C-2AB5-4CCA-B9FB-3184EF41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624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Drift, wersje, incydenty, rollback i owner.</a:t>
            </a:r>
          </a:p>
        </p:txBody>
      </p:sp>
    </p:spTree>
    <p:extLst>
      <p:ext uri="{BB962C8B-B14F-4D97-AF65-F5344CB8AC3E}">
        <p14:creationId xmlns:p14="http://schemas.microsoft.com/office/powerpoint/2010/main" val="2588671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436BE-3793-48B0-91E4-B8A0A3A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ZAMKNIĘCIE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6D410-4D87-473E-93D1-EAD6333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E8F55-1763-4FA9-89ED-9A190FB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Dane graniczne. Wiele metryk. Hybrydowa odpowiedzialność.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CFD03-F0B1-4671-8F60-0C7D6FCC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F9811-194A-40BD-9C93-2CF4600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 i QLoRA obniżają koszt adaptacji. Profesjonalny system powstaje dopiero wokół adaptera.</a:t>
            </a:r>
          </a:p>
        </p:txBody>
      </p:sp>
    </p:spTree>
    <p:extLst>
      <p:ext uri="{BB962C8B-B14F-4D97-AF65-F5344CB8AC3E}">
        <p14:creationId xmlns:p14="http://schemas.microsoft.com/office/powerpoint/2010/main" val="119273073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436BE-3793-48B0-91E4-B8A0A3A2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672"/>
                </a:solidFill>
                <a:latin typeface="Arial"/>
                <a:ea typeface="Arial"/>
                <a:cs typeface="Arial"/>
              </a:rPr>
              <a:t>ZAMKNIĘCIE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6D410-4D87-473E-93D1-EAD6333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E8F55-1763-4FA9-89ED-9A190FB9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Dane graniczne. Wiele metryk. Hybrydowa odpowiedzialność.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CFD03-F0B1-4671-8F60-0C7D6FCC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857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F9811-194A-40BD-9C93-2CF46005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942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E6672"/>
                </a:solidFill>
                <a:latin typeface="Arial"/>
                <a:ea typeface="Arial"/>
                <a:cs typeface="Arial"/>
              </a:rPr>
              <a:t>LoRA i QLoRA obniżają koszt adaptacji. Profesjonalny system powstaje dopiero wokół adaptera.</a:t>
            </a:r>
          </a:p>
        </p:txBody>
      </p:sp>
    </p:spTree>
    <p:extLst>
      <p:ext uri="{BB962C8B-B14F-4D97-AF65-F5344CB8AC3E}">
        <p14:creationId xmlns:p14="http://schemas.microsoft.com/office/powerpoint/2010/main" val="1192730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2026-08-31T22:40:02.8710000Z</dcterms:created>
  <dcterms:modified xsi:type="dcterms:W3CDTF">2026-08-31T22:40:02.8710000Z</dcterms:modified>
</coreProperties>
</file>