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charts/chart1.xml" ContentType="application/vnd.openxmlformats-officedocument.drawingml.chart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slides/charts/chart2.xml" ContentType="application/vnd.openxmlformats-officedocument.drawingml.chart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slides/charts/chart3.xml" ContentType="application/vnd.openxmlformats-officedocument.drawingml.chart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5f360350ab4e8d" /><Relationship Type="http://schemas.openxmlformats.org/officeDocument/2006/relationships/extended-properties" Target="/docProps/app.xml" Id="Ra8b500cabf1349b1" /><Relationship Type="http://schemas.openxmlformats.org/officeDocument/2006/relationships/officeDocument" Target="/ppt/presentation.xml" Id="R3f39ab6f3f2141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6e2f5684b44299"/>
  </p:sldMasterIdLst>
  <p:notesMasterIdLst>
    <p:notesMasterId xmlns:r="http://schemas.openxmlformats.org/officeDocument/2006/relationships" r:id="R8e2860d2926d4a48"/>
  </p:notesMasterIdLst>
  <p:sldIdLst>
    <p:sldId xmlns:r="http://schemas.openxmlformats.org/officeDocument/2006/relationships" id="256" r:id="R7ee594f8ab6741a6"/>
    <p:sldId xmlns:r="http://schemas.openxmlformats.org/officeDocument/2006/relationships" id="257" r:id="R9b27b7c4ae664e3a"/>
    <p:sldId xmlns:r="http://schemas.openxmlformats.org/officeDocument/2006/relationships" id="258" r:id="R9f4bd483b3f84003"/>
    <p:sldId xmlns:r="http://schemas.openxmlformats.org/officeDocument/2006/relationships" id="259" r:id="Rf8aa319af99940fd"/>
    <p:sldId xmlns:r="http://schemas.openxmlformats.org/officeDocument/2006/relationships" id="260" r:id="R428a03b99787475c"/>
    <p:sldId xmlns:r="http://schemas.openxmlformats.org/officeDocument/2006/relationships" id="261" r:id="Re58bebf9a9684f4b"/>
    <p:sldId xmlns:r="http://schemas.openxmlformats.org/officeDocument/2006/relationships" id="262" r:id="Rd0fd9b443ef640c7"/>
    <p:sldId xmlns:r="http://schemas.openxmlformats.org/officeDocument/2006/relationships" id="263" r:id="R3e9b076f87e84c36"/>
    <p:sldId xmlns:r="http://schemas.openxmlformats.org/officeDocument/2006/relationships" id="264" r:id="Rb4aa738b0ef1440b"/>
    <p:sldId xmlns:r="http://schemas.openxmlformats.org/officeDocument/2006/relationships" id="265" r:id="Rdd32829629464619"/>
    <p:sldId xmlns:r="http://schemas.openxmlformats.org/officeDocument/2006/relationships" id="266" r:id="R72b7759948104224"/>
    <p:sldId xmlns:r="http://schemas.openxmlformats.org/officeDocument/2006/relationships" id="267" r:id="Re7353b5a8942433e"/>
    <p:sldId xmlns:r="http://schemas.openxmlformats.org/officeDocument/2006/relationships" id="268" r:id="R479aac4835d54c21"/>
    <p:sldId xmlns:r="http://schemas.openxmlformats.org/officeDocument/2006/relationships" id="269" r:id="Rffd379e5cc3b437c"/>
    <p:sldId xmlns:r="http://schemas.openxmlformats.org/officeDocument/2006/relationships" id="270" r:id="Rbea8024f03db4fdf"/>
    <p:sldId xmlns:r="http://schemas.openxmlformats.org/officeDocument/2006/relationships" id="271" r:id="Rde52cfa164464d40"/>
    <p:sldId xmlns:r="http://schemas.openxmlformats.org/officeDocument/2006/relationships" id="272" r:id="R115b7c7aef774a14"/>
    <p:sldId xmlns:r="http://schemas.openxmlformats.org/officeDocument/2006/relationships" id="273" r:id="R34d29fdcb3ae49d7"/>
    <p:sldId xmlns:r="http://schemas.openxmlformats.org/officeDocument/2006/relationships" id="274" r:id="R8ef43451a64a45e3"/>
    <p:sldId xmlns:r="http://schemas.openxmlformats.org/officeDocument/2006/relationships" id="275" r:id="R14f96223110e499f"/>
    <p:sldId xmlns:r="http://schemas.openxmlformats.org/officeDocument/2006/relationships" id="276" r:id="R1c2a89c3b3dc459e"/>
    <p:sldId xmlns:r="http://schemas.openxmlformats.org/officeDocument/2006/relationships" id="277" r:id="R6b6e0fbb3f064bdc"/>
    <p:sldId xmlns:r="http://schemas.openxmlformats.org/officeDocument/2006/relationships" id="278" r:id="Rdbe8261ecbaa4170"/>
    <p:sldId xmlns:r="http://schemas.openxmlformats.org/officeDocument/2006/relationships" id="279" r:id="R086b7c071bef42e8"/>
    <p:sldId xmlns:r="http://schemas.openxmlformats.org/officeDocument/2006/relationships" id="280" r:id="Rd31e2b1135704d62"/>
    <p:sldId xmlns:r="http://schemas.openxmlformats.org/officeDocument/2006/relationships" id="281" r:id="Rfe184c185f824379"/>
    <p:sldId xmlns:r="http://schemas.openxmlformats.org/officeDocument/2006/relationships" id="282" r:id="R1b6136b9dce5421e"/>
    <p:sldId xmlns:r="http://schemas.openxmlformats.org/officeDocument/2006/relationships" id="283" r:id="R0e71d53cb772446d"/>
    <p:sldId xmlns:r="http://schemas.openxmlformats.org/officeDocument/2006/relationships" id="284" r:id="R324983300ec548c1"/>
    <p:sldId xmlns:r="http://schemas.openxmlformats.org/officeDocument/2006/relationships" id="285" r:id="Rc07c465d61d141b1"/>
    <p:sldId xmlns:r="http://schemas.openxmlformats.org/officeDocument/2006/relationships" id="286" r:id="R9464faa97c954d42"/>
    <p:sldId xmlns:r="http://schemas.openxmlformats.org/officeDocument/2006/relationships" id="287" r:id="Rd383b52f12c542c2"/>
    <p:sldId xmlns:r="http://schemas.openxmlformats.org/officeDocument/2006/relationships" id="288" r:id="R0fe17f4783f344b0"/>
    <p:sldId xmlns:r="http://schemas.openxmlformats.org/officeDocument/2006/relationships" id="289" r:id="R5bf2140f83914d50"/>
    <p:sldId xmlns:r="http://schemas.openxmlformats.org/officeDocument/2006/relationships" id="290" r:id="R6491872dd69e44dd"/>
    <p:sldId xmlns:r="http://schemas.openxmlformats.org/officeDocument/2006/relationships" id="291" r:id="R66b853aa73504e57"/>
    <p:sldId xmlns:r="http://schemas.openxmlformats.org/officeDocument/2006/relationships" id="292" r:id="R37841949e41443ad"/>
    <p:sldId xmlns:r="http://schemas.openxmlformats.org/officeDocument/2006/relationships" id="293" r:id="R5cf8f345b3a24d60"/>
    <p:sldId xmlns:r="http://schemas.openxmlformats.org/officeDocument/2006/relationships" id="294" r:id="R7b87f41de8a94ed6"/>
    <p:sldId xmlns:r="http://schemas.openxmlformats.org/officeDocument/2006/relationships" id="295" r:id="R602b3a7f77234f3e"/>
    <p:sldId xmlns:r="http://schemas.openxmlformats.org/officeDocument/2006/relationships" id="296" r:id="R45cd443b20f54d41"/>
    <p:sldId xmlns:r="http://schemas.openxmlformats.org/officeDocument/2006/relationships" id="297" r:id="R570a904658604bea"/>
    <p:sldId xmlns:r="http://schemas.openxmlformats.org/officeDocument/2006/relationships" id="298" r:id="R1e158cf4b2594387"/>
    <p:sldId xmlns:r="http://schemas.openxmlformats.org/officeDocument/2006/relationships" id="299" r:id="R17dd06d2b3c1472e"/>
    <p:sldId xmlns:r="http://schemas.openxmlformats.org/officeDocument/2006/relationships" id="300" r:id="R868b921e74f34c81"/>
    <p:sldId xmlns:r="http://schemas.openxmlformats.org/officeDocument/2006/relationships" id="301" r:id="R3baf3ca708c94a8b"/>
    <p:sldId xmlns:r="http://schemas.openxmlformats.org/officeDocument/2006/relationships" id="302" r:id="Ra4f8bc9b1cbd497a"/>
    <p:sldId xmlns:r="http://schemas.openxmlformats.org/officeDocument/2006/relationships" id="303" r:id="Rb48a923387d44dbc"/>
    <p:sldId xmlns:r="http://schemas.openxmlformats.org/officeDocument/2006/relationships" id="304" r:id="R3789eda5943e4c8d"/>
    <p:sldId xmlns:r="http://schemas.openxmlformats.org/officeDocument/2006/relationships" id="305" r:id="R0c04f4ab479540bc"/>
    <p:sldId xmlns:r="http://schemas.openxmlformats.org/officeDocument/2006/relationships" id="306" r:id="Redfe44d09f0d4ec4"/>
    <p:sldId xmlns:r="http://schemas.openxmlformats.org/officeDocument/2006/relationships" id="307" r:id="R02673fcdc1a64701"/>
    <p:sldId xmlns:r="http://schemas.openxmlformats.org/officeDocument/2006/relationships" id="308" r:id="R4f669963963f45b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67d0646c674a27" /><Relationship Type="http://schemas.openxmlformats.org/officeDocument/2006/relationships/slideMaster" Target="/ppt/slideMasters/slideMaster1.xml" Id="R466e2f5684b44299" /><Relationship Type="http://schemas.openxmlformats.org/officeDocument/2006/relationships/notesMaster" Target="/ppt/notesMasters/notesMaster1.xml" Id="R8e2860d2926d4a48" /><Relationship Type="http://schemas.openxmlformats.org/officeDocument/2006/relationships/presProps" Target="/ppt/presProps.xml" Id="R522d832d30f641de" /><Relationship Type="http://schemas.openxmlformats.org/officeDocument/2006/relationships/tableStyles" Target="/ppt/tableStyles.xml" Id="R16bbfd9a4314426a" /><Relationship Type="http://schemas.openxmlformats.org/officeDocument/2006/relationships/slide" Target="/ppt/slides/slide1.xml" Id="R7ee594f8ab6741a6" /><Relationship Type="http://schemas.openxmlformats.org/officeDocument/2006/relationships/slide" Target="/ppt/slides/slide2.xml" Id="R9b27b7c4ae664e3a" /><Relationship Type="http://schemas.openxmlformats.org/officeDocument/2006/relationships/slide" Target="/ppt/slides/slide3.xml" Id="R9f4bd483b3f84003" /><Relationship Type="http://schemas.openxmlformats.org/officeDocument/2006/relationships/slide" Target="/ppt/slides/slide4.xml" Id="Rf8aa319af99940fd" /><Relationship Type="http://schemas.openxmlformats.org/officeDocument/2006/relationships/slide" Target="/ppt/slides/slide5.xml" Id="R428a03b99787475c" /><Relationship Type="http://schemas.openxmlformats.org/officeDocument/2006/relationships/slide" Target="/ppt/slides/slide6.xml" Id="Re58bebf9a9684f4b" /><Relationship Type="http://schemas.openxmlformats.org/officeDocument/2006/relationships/slide" Target="/ppt/slides/slide7.xml" Id="Rd0fd9b443ef640c7" /><Relationship Type="http://schemas.openxmlformats.org/officeDocument/2006/relationships/slide" Target="/ppt/slides/slide8.xml" Id="R3e9b076f87e84c36" /><Relationship Type="http://schemas.openxmlformats.org/officeDocument/2006/relationships/slide" Target="/ppt/slides/slide9.xml" Id="Rb4aa738b0ef1440b" /><Relationship Type="http://schemas.openxmlformats.org/officeDocument/2006/relationships/slide" Target="/ppt/slides/slide10.xml" Id="Rdd32829629464619" /><Relationship Type="http://schemas.openxmlformats.org/officeDocument/2006/relationships/slide" Target="/ppt/slides/slide11.xml" Id="R72b7759948104224" /><Relationship Type="http://schemas.openxmlformats.org/officeDocument/2006/relationships/slide" Target="/ppt/slides/slide12.xml" Id="Re7353b5a8942433e" /><Relationship Type="http://schemas.openxmlformats.org/officeDocument/2006/relationships/slide" Target="/ppt/slides/slide13.xml" Id="R479aac4835d54c21" /><Relationship Type="http://schemas.openxmlformats.org/officeDocument/2006/relationships/slide" Target="/ppt/slides/slide14.xml" Id="Rffd379e5cc3b437c" /><Relationship Type="http://schemas.openxmlformats.org/officeDocument/2006/relationships/slide" Target="/ppt/slides/slide15.xml" Id="Rbea8024f03db4fdf" /><Relationship Type="http://schemas.openxmlformats.org/officeDocument/2006/relationships/slide" Target="/ppt/slides/slide16.xml" Id="Rde52cfa164464d40" /><Relationship Type="http://schemas.openxmlformats.org/officeDocument/2006/relationships/slide" Target="/ppt/slides/slide17.xml" Id="R115b7c7aef774a14" /><Relationship Type="http://schemas.openxmlformats.org/officeDocument/2006/relationships/slide" Target="/ppt/slides/slide18.xml" Id="R34d29fdcb3ae49d7" /><Relationship Type="http://schemas.openxmlformats.org/officeDocument/2006/relationships/slide" Target="/ppt/slides/slide19.xml" Id="R8ef43451a64a45e3" /><Relationship Type="http://schemas.openxmlformats.org/officeDocument/2006/relationships/slide" Target="/ppt/slides/slide20.xml" Id="R14f96223110e499f" /><Relationship Type="http://schemas.openxmlformats.org/officeDocument/2006/relationships/slide" Target="/ppt/slides/slide21.xml" Id="R1c2a89c3b3dc459e" /><Relationship Type="http://schemas.openxmlformats.org/officeDocument/2006/relationships/slide" Target="/ppt/slides/slide22.xml" Id="R6b6e0fbb3f064bdc" /><Relationship Type="http://schemas.openxmlformats.org/officeDocument/2006/relationships/slide" Target="/ppt/slides/slide23.xml" Id="Rdbe8261ecbaa4170" /><Relationship Type="http://schemas.openxmlformats.org/officeDocument/2006/relationships/slide" Target="/ppt/slides/slide24.xml" Id="R086b7c071bef42e8" /><Relationship Type="http://schemas.openxmlformats.org/officeDocument/2006/relationships/slide" Target="/ppt/slides/slide25.xml" Id="Rd31e2b1135704d62" /><Relationship Type="http://schemas.openxmlformats.org/officeDocument/2006/relationships/slide" Target="/ppt/slides/slide26.xml" Id="Rfe184c185f824379" /><Relationship Type="http://schemas.openxmlformats.org/officeDocument/2006/relationships/slide" Target="/ppt/slides/slide27.xml" Id="R1b6136b9dce5421e" /><Relationship Type="http://schemas.openxmlformats.org/officeDocument/2006/relationships/slide" Target="/ppt/slides/slide28.xml" Id="R0e71d53cb772446d" /><Relationship Type="http://schemas.openxmlformats.org/officeDocument/2006/relationships/slide" Target="/ppt/slides/slide29.xml" Id="R324983300ec548c1" /><Relationship Type="http://schemas.openxmlformats.org/officeDocument/2006/relationships/slide" Target="/ppt/slides/slide30.xml" Id="Rc07c465d61d141b1" /><Relationship Type="http://schemas.openxmlformats.org/officeDocument/2006/relationships/slide" Target="/ppt/slides/slide31.xml" Id="R9464faa97c954d42" /><Relationship Type="http://schemas.openxmlformats.org/officeDocument/2006/relationships/slide" Target="/ppt/slides/slide32.xml" Id="Rd383b52f12c542c2" /><Relationship Type="http://schemas.openxmlformats.org/officeDocument/2006/relationships/slide" Target="/ppt/slides/slide33.xml" Id="R0fe17f4783f344b0" /><Relationship Type="http://schemas.openxmlformats.org/officeDocument/2006/relationships/slide" Target="/ppt/slides/slide34.xml" Id="R5bf2140f83914d50" /><Relationship Type="http://schemas.openxmlformats.org/officeDocument/2006/relationships/slide" Target="/ppt/slides/slide35.xml" Id="R6491872dd69e44dd" /><Relationship Type="http://schemas.openxmlformats.org/officeDocument/2006/relationships/slide" Target="/ppt/slides/slide36.xml" Id="R66b853aa73504e57" /><Relationship Type="http://schemas.openxmlformats.org/officeDocument/2006/relationships/slide" Target="/ppt/slides/slide37.xml" Id="R37841949e41443ad" /><Relationship Type="http://schemas.openxmlformats.org/officeDocument/2006/relationships/slide" Target="/ppt/slides/slide38.xml" Id="R5cf8f345b3a24d60" /><Relationship Type="http://schemas.openxmlformats.org/officeDocument/2006/relationships/slide" Target="/ppt/slides/slide39.xml" Id="R7b87f41de8a94ed6" /><Relationship Type="http://schemas.openxmlformats.org/officeDocument/2006/relationships/slide" Target="/ppt/slides/slide40.xml" Id="R602b3a7f77234f3e" /><Relationship Type="http://schemas.openxmlformats.org/officeDocument/2006/relationships/slide" Target="/ppt/slides/slide41.xml" Id="R45cd443b20f54d41" /><Relationship Type="http://schemas.openxmlformats.org/officeDocument/2006/relationships/slide" Target="/ppt/slides/slide42.xml" Id="R570a904658604bea" /><Relationship Type="http://schemas.openxmlformats.org/officeDocument/2006/relationships/slide" Target="/ppt/slides/slide43.xml" Id="R1e158cf4b2594387" /><Relationship Type="http://schemas.openxmlformats.org/officeDocument/2006/relationships/slide" Target="/ppt/slides/slide44.xml" Id="R17dd06d2b3c1472e" /><Relationship Type="http://schemas.openxmlformats.org/officeDocument/2006/relationships/slide" Target="/ppt/slides/slide45.xml" Id="R868b921e74f34c81" /><Relationship Type="http://schemas.openxmlformats.org/officeDocument/2006/relationships/slide" Target="/ppt/slides/slide46.xml" Id="R3baf3ca708c94a8b" /><Relationship Type="http://schemas.openxmlformats.org/officeDocument/2006/relationships/slide" Target="/ppt/slides/slide47.xml" Id="Ra4f8bc9b1cbd497a" /><Relationship Type="http://schemas.openxmlformats.org/officeDocument/2006/relationships/slide" Target="/ppt/slides/slide48.xml" Id="Rb48a923387d44dbc" /><Relationship Type="http://schemas.openxmlformats.org/officeDocument/2006/relationships/slide" Target="/ppt/slides/slide49.xml" Id="R3789eda5943e4c8d" /><Relationship Type="http://schemas.openxmlformats.org/officeDocument/2006/relationships/slide" Target="/ppt/slides/slide50.xml" Id="R0c04f4ab479540bc" /><Relationship Type="http://schemas.openxmlformats.org/officeDocument/2006/relationships/slide" Target="/ppt/slides/slide51.xml" Id="Redfe44d09f0d4ec4" /><Relationship Type="http://schemas.openxmlformats.org/officeDocument/2006/relationships/slide" Target="/ppt/slides/slide52.xml" Id="R02673fcdc1a64701" /><Relationship Type="http://schemas.openxmlformats.org/officeDocument/2006/relationships/slide" Target="/ppt/slides/slide53.xml" Id="R4f669963963f45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9fe9b6622c4b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6ab7a1aacb4ef7" /><Relationship Type="http://schemas.openxmlformats.org/officeDocument/2006/relationships/notesMaster" Target="/ppt/notesMasters/notesMaster1.xml" Id="R74095c5f05c744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6066f819ac4c32" /><Relationship Type="http://schemas.openxmlformats.org/officeDocument/2006/relationships/notesMaster" Target="/ppt/notesMasters/notesMaster1.xml" Id="R6854951cd9eb4d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a688b8ae6e44cb" /><Relationship Type="http://schemas.openxmlformats.org/officeDocument/2006/relationships/notesMaster" Target="/ppt/notesMasters/notesMaster1.xml" Id="R15aa1b5d2b0543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3d711b415042f4" /><Relationship Type="http://schemas.openxmlformats.org/officeDocument/2006/relationships/notesMaster" Target="/ppt/notesMasters/notesMaster1.xml" Id="Rf0b6766aff2841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a04f0c42df43e3" /><Relationship Type="http://schemas.openxmlformats.org/officeDocument/2006/relationships/notesMaster" Target="/ppt/notesMasters/notesMaster1.xml" Id="Rdc9f5d4014a84c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3d442c04fb4c3e" /><Relationship Type="http://schemas.openxmlformats.org/officeDocument/2006/relationships/notesMaster" Target="/ppt/notesMasters/notesMaster1.xml" Id="Rc6a6f41ccccb4f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f03bcaa0ed4903" /><Relationship Type="http://schemas.openxmlformats.org/officeDocument/2006/relationships/notesMaster" Target="/ppt/notesMasters/notesMaster1.xml" Id="R57dac78ebcb24a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b6630836844c90" /><Relationship Type="http://schemas.openxmlformats.org/officeDocument/2006/relationships/notesMaster" Target="/ppt/notesMasters/notesMaster1.xml" Id="R7b5a99461b544c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16b2892dd14145" /><Relationship Type="http://schemas.openxmlformats.org/officeDocument/2006/relationships/notesMaster" Target="/ppt/notesMasters/notesMaster1.xml" Id="R147907cbe58540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3223aee133416b" /><Relationship Type="http://schemas.openxmlformats.org/officeDocument/2006/relationships/notesMaster" Target="/ppt/notesMasters/notesMaster1.xml" Id="R4b66428acd2747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18e1bede8e49fd" /><Relationship Type="http://schemas.openxmlformats.org/officeDocument/2006/relationships/notesMaster" Target="/ppt/notesMasters/notesMaster1.xml" Id="Rfd8533326d7248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9622b664324f54" /><Relationship Type="http://schemas.openxmlformats.org/officeDocument/2006/relationships/notesMaster" Target="/ppt/notesMasters/notesMaster1.xml" Id="R071e2faec8ef47b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30859e64204d45" /><Relationship Type="http://schemas.openxmlformats.org/officeDocument/2006/relationships/notesMaster" Target="/ppt/notesMasters/notesMaster1.xml" Id="R48cb4429d0c940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8486de47b843a3" /><Relationship Type="http://schemas.openxmlformats.org/officeDocument/2006/relationships/notesMaster" Target="/ppt/notesMasters/notesMaster1.xml" Id="R4d7052ad72f24ed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1fc7302aa064170" /><Relationship Type="http://schemas.openxmlformats.org/officeDocument/2006/relationships/notesMaster" Target="/ppt/notesMasters/notesMaster1.xml" Id="R063e222585a94c5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c45cf8b43c49dc" /><Relationship Type="http://schemas.openxmlformats.org/officeDocument/2006/relationships/notesMaster" Target="/ppt/notesMasters/notesMaster1.xml" Id="Rb9d0d15f5bdc498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2cbd156ff63460e" /><Relationship Type="http://schemas.openxmlformats.org/officeDocument/2006/relationships/notesMaster" Target="/ppt/notesMasters/notesMaster1.xml" Id="Rbff9d9cebcef45a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ce2a0fad8294f6d" /><Relationship Type="http://schemas.openxmlformats.org/officeDocument/2006/relationships/notesMaster" Target="/ppt/notesMasters/notesMaster1.xml" Id="R703af8b961754ee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312ae734ca94e54" /><Relationship Type="http://schemas.openxmlformats.org/officeDocument/2006/relationships/notesMaster" Target="/ppt/notesMasters/notesMaster1.xml" Id="Ra10e57fee28349c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a908ca88fde4fc7" /><Relationship Type="http://schemas.openxmlformats.org/officeDocument/2006/relationships/notesMaster" Target="/ppt/notesMasters/notesMaster1.xml" Id="Rb1ab7cdec18441e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4e0be7229e44cb0" /><Relationship Type="http://schemas.openxmlformats.org/officeDocument/2006/relationships/notesMaster" Target="/ppt/notesMasters/notesMaster1.xml" Id="Rb27b75ff230047e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5b6d354bd454e94" /><Relationship Type="http://schemas.openxmlformats.org/officeDocument/2006/relationships/notesMaster" Target="/ppt/notesMasters/notesMaster1.xml" Id="Rff525cc5b3a0487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8a17e39a0964cf0" /><Relationship Type="http://schemas.openxmlformats.org/officeDocument/2006/relationships/notesMaster" Target="/ppt/notesMasters/notesMaster1.xml" Id="Rc8623d4b80d8491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6e7019f9c5c4a67" /><Relationship Type="http://schemas.openxmlformats.org/officeDocument/2006/relationships/notesMaster" Target="/ppt/notesMasters/notesMaster1.xml" Id="R48fd098430b3440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5e47eb51e4a4098" /><Relationship Type="http://schemas.openxmlformats.org/officeDocument/2006/relationships/notesMaster" Target="/ppt/notesMasters/notesMaster1.xml" Id="Rf7395f057905497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65034b42c88418c" /><Relationship Type="http://schemas.openxmlformats.org/officeDocument/2006/relationships/notesMaster" Target="/ppt/notesMasters/notesMaster1.xml" Id="R6b44df98b1424dc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4b4f6d27bcb4d98" /><Relationship Type="http://schemas.openxmlformats.org/officeDocument/2006/relationships/notesMaster" Target="/ppt/notesMasters/notesMaster1.xml" Id="Rdbb6f8e6c85e44e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896584005cf45e7" /><Relationship Type="http://schemas.openxmlformats.org/officeDocument/2006/relationships/notesMaster" Target="/ppt/notesMasters/notesMaster1.xml" Id="Rd8df118ce4b04e4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0526e31be9b4350" /><Relationship Type="http://schemas.openxmlformats.org/officeDocument/2006/relationships/notesMaster" Target="/ppt/notesMasters/notesMaster1.xml" Id="R51fa3f6b6523443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6abc4bc9478427b" /><Relationship Type="http://schemas.openxmlformats.org/officeDocument/2006/relationships/notesMaster" Target="/ppt/notesMasters/notesMaster1.xml" Id="R969a4f8d6ac640a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3df98a7f71a4a44" /><Relationship Type="http://schemas.openxmlformats.org/officeDocument/2006/relationships/notesMaster" Target="/ppt/notesMasters/notesMaster1.xml" Id="R409ecade9cb4442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dfab762e5a64eb1" /><Relationship Type="http://schemas.openxmlformats.org/officeDocument/2006/relationships/notesMaster" Target="/ppt/notesMasters/notesMaster1.xml" Id="Rf2faa7b5c70a49a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69e4667db8748e1" /><Relationship Type="http://schemas.openxmlformats.org/officeDocument/2006/relationships/notesMaster" Target="/ppt/notesMasters/notesMaster1.xml" Id="R217f213fb5c3413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e2f05afe38d473a" /><Relationship Type="http://schemas.openxmlformats.org/officeDocument/2006/relationships/notesMaster" Target="/ppt/notesMasters/notesMaster1.xml" Id="Rdf1adfc9e67341d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71cc5e990b9470c" /><Relationship Type="http://schemas.openxmlformats.org/officeDocument/2006/relationships/notesMaster" Target="/ppt/notesMasters/notesMaster1.xml" Id="R6b53d1e203d34c7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e1b357ec6514de1" /><Relationship Type="http://schemas.openxmlformats.org/officeDocument/2006/relationships/notesMaster" Target="/ppt/notesMasters/notesMaster1.xml" Id="R966e52288ac5409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caf3b226d814fbb" /><Relationship Type="http://schemas.openxmlformats.org/officeDocument/2006/relationships/notesMaster" Target="/ppt/notesMasters/notesMaster1.xml" Id="R7e5355e30fc44f8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12fe4cafebb4dd1" /><Relationship Type="http://schemas.openxmlformats.org/officeDocument/2006/relationships/notesMaster" Target="/ppt/notesMasters/notesMaster1.xml" Id="Re9f927a39ea54c2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8a3824b5fcf4a7c" /><Relationship Type="http://schemas.openxmlformats.org/officeDocument/2006/relationships/notesMaster" Target="/ppt/notesMasters/notesMaster1.xml" Id="R853aec31c6054fe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4a27773e6964fdf" /><Relationship Type="http://schemas.openxmlformats.org/officeDocument/2006/relationships/notesMaster" Target="/ppt/notesMasters/notesMaster1.xml" Id="Rce559468358846d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91f9f33e1f04db3" /><Relationship Type="http://schemas.openxmlformats.org/officeDocument/2006/relationships/notesMaster" Target="/ppt/notesMasters/notesMaster1.xml" Id="R1577ad4ca6b34cd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b576516b2694a6d" /><Relationship Type="http://schemas.openxmlformats.org/officeDocument/2006/relationships/notesMaster" Target="/ppt/notesMasters/notesMaster1.xml" Id="R008c4d503eb14fe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c48ac020152463b" /><Relationship Type="http://schemas.openxmlformats.org/officeDocument/2006/relationships/notesMaster" Target="/ppt/notesMasters/notesMaster1.xml" Id="R66b813dd2686446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adec9cbf05d4b80" /><Relationship Type="http://schemas.openxmlformats.org/officeDocument/2006/relationships/notesMaster" Target="/ppt/notesMasters/notesMaster1.xml" Id="R02db5a40e5ba420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665c73d45244a22" /><Relationship Type="http://schemas.openxmlformats.org/officeDocument/2006/relationships/notesMaster" Target="/ppt/notesMasters/notesMaster1.xml" Id="R379dbc85c5734dc1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0717b9ab6a24dac" /><Relationship Type="http://schemas.openxmlformats.org/officeDocument/2006/relationships/notesMaster" Target="/ppt/notesMasters/notesMaster1.xml" Id="R4ae6c70f51ec42b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1dd93d4f96a4ed3" /><Relationship Type="http://schemas.openxmlformats.org/officeDocument/2006/relationships/notesMaster" Target="/ppt/notesMasters/notesMaster1.xml" Id="R99ff70caca9645d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0705f486b94f417a" /><Relationship Type="http://schemas.openxmlformats.org/officeDocument/2006/relationships/notesMaster" Target="/ppt/notesMasters/notesMaster1.xml" Id="Rc86f89360e9240b5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9aa8fa66d8647d4" /><Relationship Type="http://schemas.openxmlformats.org/officeDocument/2006/relationships/notesMaster" Target="/ppt/notesMasters/notesMaster1.xml" Id="Rd0816b27043e4fa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10c2c8d34bc24d94" /><Relationship Type="http://schemas.openxmlformats.org/officeDocument/2006/relationships/notesMaster" Target="/ppt/notesMasters/notesMaster1.xml" Id="R8c2388e0cd2a45d6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727ed8ad28344a6c" /><Relationship Type="http://schemas.openxmlformats.org/officeDocument/2006/relationships/notesMaster" Target="/ppt/notesMasters/notesMaster1.xml" Id="R767d581a10024ba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fbc11a9c02c84ff7" /><Relationship Type="http://schemas.openxmlformats.org/officeDocument/2006/relationships/notesMaster" Target="/ppt/notesMasters/notesMaster1.xml" Id="R73f6fe30f4f34d2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d031fdeb6a6e440b" /><Relationship Type="http://schemas.openxmlformats.org/officeDocument/2006/relationships/notesMaster" Target="/ppt/notesMasters/notesMaster1.xml" Id="R8758325b4e9146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1 min</a:t>
            </a:r>
          </a:p>
          <a:p xmlns:a="http://schemas.openxmlformats.org/drawingml/2006/main">
            <a:r>
              <a:t>Cel: Ustawić zakres i profesjonalny ton szkolenia.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Przedstaw warsztat jako historię decyzji inżynierskiej, nie przegląd biblioteki. Zapowiedz, że użyjemy własnego bankowego eksperymentu i pokażemy również wynik negatywny.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2 min</a:t>
            </a:r>
          </a:p>
          <a:p xmlns:a="http://schemas.openxmlformats.org/drawingml/2006/main">
            <a:r>
              <a:t>Cel: Zbudować napięcie wokół FC-209.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Nie wyjaśniaj jeszcze guarda. Pokaż, że struktura i arytmetyka mogą być poprawne, a decyzja biznesowa błędna. Poproś grupę, aby zapamiętała to zdanie.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Pytanie do grupy: Która metryka ujawni taki błąd, jeśli schema validity wynosi 100%?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repo:data/diagnostic/diagnostic_set_v1.jsonl#FC-209</a:t>
            </a:r>
          </a:p>
          <a:p xmlns:a="http://schemas.openxmlformats.org/drawingml/2006/main">
            <a:r>
              <a:t>- repo:results/sprint4_2b/comparison.md</a:t>
            </a:r>
          </a:p>
          <a:p xmlns:a="http://schemas.openxmlformats.org/drawingml/2006/main">
            <a:r>
              <a:t>- repo:results/sprint4_2c/report.md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2 min</a:t>
            </a:r>
          </a:p>
          <a:p xmlns:a="http://schemas.openxmlformats.org/drawingml/2006/main">
            <a:r>
              <a:t>Cel: Sukces ma trzy niezależne wymiary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Wyjaśnij, że decyzja, dowód i kontrakt wymagają osobnych testów. Bezpieczeństwo procesu będzie warstwą nadrzędną, której nie wolno redukować do jednej liczby.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Przejście: Najpierw określimy, co system może robić.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repo:docs/05_baseline_results.md</a:t>
            </a:r>
          </a:p>
          <a:p xmlns:a="http://schemas.openxmlformats.org/drawingml/2006/main">
            <a:r>
              <a:t>- repo:results/sprint4_2b/comparison.md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2 min</a:t>
            </a:r>
          </a:p>
          <a:p xmlns:a="http://schemas.openxmlformats.org/drawingml/2006/main">
            <a:r>
              <a:t>Cel: Copilot wspiera kontrolera — nie zatwierdza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Wyraźnie oddziel wspomaganie od automatycznej decyzji. To ograniczenie będzie później uzasadniało human review i protected gate.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repo:docs/02_financial_control_copilot.md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Jedna historia: zachowanie → trening → dowód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Zaznacz przerwę po części QLoRA. Uczestnicy nie konfigurują środowisk; analizują decyzje i obserwują prawdziwy trening.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Czy brakuje wiedzy, czy zachowania?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To najważniejsze pytanie diagnostyczne przed wyborem PEFT. Wiedzę zmienną zwykle dostarcza kontekst lub retrieval; stabilne zachowanie może trafić do adaptera.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Pytanie do grupy: Która część waszego procesu zmienia się co tydzień?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repo:docs/02_financial_control_copilot.md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4 min</a:t>
            </a:r>
          </a:p>
          <a:p xmlns:a="http://schemas.openxmlformats.org/drawingml/2006/main">
            <a:r>
              <a:t>Cel: Każda interwencja rozwiązuje inny problem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Omów kolejność od najtańszej do najbardziej inwazyjnej interwencji. RAG i PEFT mogą działać razem — jeden dostarcza fakty, drugi sposób działania.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- repo:docs/02_financial_control_copilot.md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Gdzie PEFT ma sens w banku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Nie klasyfikuj technologii jako bezpiecznej lub niebezpiecznej w abstrakcji. Ryzyko wynika z procesu, danych, wpływu i mechanizmu kontroli.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repo:docs/02_financial_control_copilot.md</a:t>
            </a:r>
          </a:p>
          <a:p xmlns:a="http://schemas.openxmlformats.org/drawingml/2006/main">
            <a:r>
              <a:t>- https://eur-lex.europa.eu/legal-content/EN/TXT/?uri=celex%3A32024R1689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6 min</a:t>
            </a:r>
          </a:p>
          <a:p xmlns:a="http://schemas.openxmlformats.org/drawingml/2006/main">
            <a:r>
              <a:t>Cel: Dobierz interwencję, zanim wybierzesz LoRA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Rozdaj cztery przypadki. Oczekuj: RAG; PEFT/SFT; rozważenie continued pretraining wraz z RAG/SFT; kod deterministyczny. Nie akceptuj odpowiedzi bez uzasadnienia częstotliwością zmian i kosztem błędu.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Plan B / uwaga: Jeśli czas ucieka, przeprowadź głosowanie przez podniesienie ręki.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- repo:docs/02_financial_control_copilot.md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Full FT aktualizuje więcej, niż zwykle trzeba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PEFT nie gwarantuje jakości; zmienia ekonomię eksperymentu i operacji. Podkreśl, że aktywacje nadal kosztują pamięć.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https://huggingface.co/docs/peft/main/conceptual_guides/lora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2 min</a:t>
            </a:r>
          </a:p>
          <a:p xmlns:a="http://schemas.openxmlformats.org/drawingml/2006/main">
            <a:r>
              <a:t>Cel: LoRA uczy małą aktualizację, nie mały model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Wyjaśnij intuicję niskiego efektywnego rzędu aktualizacji. Nie twierdź, że wszystkie zadania mają ten sam optymalny rank.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4 min</a:t>
            </a:r>
          </a:p>
          <a:p xmlns:a="http://schemas.openxmlformats.org/drawingml/2006/main">
            <a:r>
              <a:t>Cel: W′ = W + (α/r)BA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Przejdź po wymiarach: dla warstwy d_out × d_in macierze mają odpowiednio d_out × r i r × d_in. Skalowanie kontroluje amplitudę korekty.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Rank 16: około 1,48% trenowanych parametrów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Pokaż wzór r(d_in + d_out) dla jednej warstwy. Następnie wyjaśnij, że suma zależy od liczby i rozmiaru target modules.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Pytanie do grupy: Czy dwukrotny rank zawsze daje dwukrotnie lepszą jakość?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4 min</a:t>
            </a:r>
          </a:p>
          <a:p xmlns:a="http://schemas.openxmlformats.org/drawingml/2006/main">
            <a:r>
              <a:t>Cel: Target modules wyznaczają swobodę adaptera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Nie ma uniwersalnej listy nazw modułów. Należy sprawdzić architekturę modelu; HF PEFT może używać all-linear, ale jawny audyt jest nadal potrzebny.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https://huggingface.co/docs/peft/main/conceptual_guides/lora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Rank, alpha i dropout działają razem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Omów zależności zamiast katalogu domyślnych wartości. Wspomnij, że rsLoRA zmienia skalowanie na alpha/sqrt(r).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https://huggingface.co/docs/peft/main/conceptual_guides/lora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Adapter jest wersjonowanym artefaktem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Adapter bez manifestu i testu reloadu nie jest gotowym artefaktem. Merge upraszcza część wdrożeń, ale ogranicza możliwość szybkiego przełączania.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https://huggingface.co/docs/peft/main/conceptual_guides/lora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4 min</a:t>
            </a:r>
          </a:p>
          <a:p xmlns:a="http://schemas.openxmlformats.org/drawingml/2006/main">
            <a:r>
              <a:t>Cel: Alternatywy mają sens przy konkretnym ograniczeniu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Nie przedstawiaj alternatyw jako automatycznych ulepszeń. To hipotezy do kontrolowanych ablations po zbudowaniu dobrego baseline’u.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https://arxiv.org/abs/2402.09353</a:t>
            </a:r>
          </a:p>
          <a:p xmlns:a="http://schemas.openxmlformats.org/drawingml/2006/main">
            <a:r>
              <a:t>- https://arxiv.org/abs/2205.05638</a:t>
            </a:r>
          </a:p>
          <a:p xmlns:a="http://schemas.openxmlformats.org/drawingml/2006/main">
            <a:r>
              <a:t>- https://huggingface.co/docs/peft/main/conceptual_guides/lora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2 min</a:t>
            </a:r>
          </a:p>
          <a:p xmlns:a="http://schemas.openxmlformats.org/drawingml/2006/main">
            <a:r>
              <a:t>Cel: Pięć pytań przed treningiem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Zrób szybkie głosowanie: które pytanie jest najczęściej pomijane w projektach uczestników?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4 min</a:t>
            </a:r>
          </a:p>
          <a:p xmlns:a="http://schemas.openxmlformats.org/drawingml/2006/main">
            <a:r>
              <a:t>Cel: QLoRA: 4-bitowy base, gradient do adaptera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Przejdź dokładnie przez przepływ: zamrożone wagi są dekwantyzowane do typu obliczeń, gradient przechodzi przez model, ale aktualizuje adapter.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https://huggingface.co/docs/transformers/v4.42.4/quantization/bitsandbytes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4 min</a:t>
            </a:r>
          </a:p>
          <a:p xmlns:a="http://schemas.openxmlformats.org/drawingml/2006/main">
            <a:r>
              <a:t>Cel: Pamięć GPU ma kilka właścicieli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Wspomnij gradient checkpointing: oszczędza aktywacje kosztem dodatkowego forwardu. Długość sekwencji może dominować pamięć mimo PEFT.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NF4 kompresuje bazowe wagi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Użyj precyzyjnego języka: NF4 wykorzystuje założenie o rozkładzie wag zbliżonym do normalnego; jest typem dla wag, nie ogólną obietnicą czterobitowego pipeline’u.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https://huggingface.co/docs/transformers/v4.42.4/quantization/bitsandbytes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Double quant i paged optimizer mają różne role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Nie łącz tych mechanizmów w jedno hasło. Każdy odpowiada za inny komponent budżetu pamięci.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https://huggingface.co/docs/transformers/v4.42.4/quantization/bitsandbytes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Storage dtype ≠ compute dtype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Poproś uczestników, aby nazwali typ wag bazowych, typ obliczeń i typ parametrów adaptera. To częste źródło nieporozumień.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https://huggingface.co/docs/transformers/v4.42.4/quantization/bitsandbytes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5 min</a:t>
            </a:r>
          </a:p>
          <a:p xmlns:a="http://schemas.openxmlformats.org/drawingml/2006/main">
            <a:r>
              <a:t>Cel: Referencyjna konfiguracja mieści 4B w 7,55 GiB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Czytaj konfigurację od ograniczeń: 12 GiB VRAM, brak truncation, completion-only loss. Liczby czasu są lokalnym wynikiem projektu, nie uniwersalnym benchmarkiem sprzętu.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https://huggingface.co/docs/transformers/v4.42.4/quantization/bitsandbytes</a:t>
            </a:r>
          </a:p>
          <a:p xmlns:a="http://schemas.openxmlformats.org/drawingml/2006/main">
            <a:r>
              <a:t>- https://huggingface.co/docs/peft/main/conceptual_guides/lora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Metodę wybieramy według ograniczenia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Zakończ część techniczną zasadą: im prostsza gwarancja, tym mniej powinna zależeć od generatywnego modelu.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10 min</a:t>
            </a:r>
          </a:p>
          <a:p xmlns:a="http://schemas.openxmlformats.org/drawingml/2006/main">
            <a:r>
              <a:t>Cel: 10 minut przerwy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Ustaw licznik. W tle przygotuj terminal z dry-runem i otwórz konfigurację Q1 demo.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LLM jest jedną warstwą systemu bankowego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To architektura docelowa case’u. Retrieval odpowiada za aktualność, kod za obliczenia, adapter za zachowanie, człowiek za decyzję o konsekwencjach.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repo:docs/02_financial_control_copilot.md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Pięć statusów rozdziela różne sytuacje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Najwięcej uwagi poświęć rozróżnieniu braku danych i braku zastosowania. To nie są synonimy.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repo:docs/02_financial_control_copilot.md</a:t>
            </a:r>
          </a:p>
          <a:p xmlns:a="http://schemas.openxmlformats.org/drawingml/2006/main">
            <a:r>
              <a:t>- repo:configs/status_policy_v1.json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Losowy split rekordów może przeciekać semantykę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Wyjaśnij, że leakage nie musi oznaczać identycznego tekstu. W danych syntetycznych szczególnie łatwo nauczyć się szablonu generatora.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repo:docs/02_financial_control_copilot.md</a:t>
            </a:r>
          </a:p>
          <a:p xmlns:a="http://schemas.openxmlformats.org/drawingml/2006/main">
            <a:r>
              <a:t>- repo:data/DATASET_CARD.md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Jedna przesłanka powinna zmieniać jedną decyzję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Minimalne pary uczą granicy i pozwalają mierzyć pair accuracy. To bardziej diagnostyczne niż wiele łatwych przykładów tej samej klasy.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repo:data/BOUNDARY_DATASET_CARD.md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Dobry JSON nie oznacza dobrej decyzji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Nie porównuj czasu inferencji jako stabilnego wyniku. Ten eksperyment służył do sprawdzenia pipeline’u i kontraktu metryk.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repo:docs/05_baseline_results.md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Q0 vs Q1 izoluje wartość boundary data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To centralna ablation. Nie wolno przypisywać poprawy samej metodzie QLoRA, skoro oba warianty używają QLoRA.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8 min</a:t>
            </a:r>
          </a:p>
          <a:p xmlns:a="http://schemas.openxmlformats.org/drawingml/2006/main">
            <a:r>
              <a:t>Cel: Znajdź przesłankę, która zmienia status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Przeprowadź głosowanie, potem pracę w parach. Zbierz spory o definicje; pokaż, że rozbieżność anotatorów jest sygnałem problemu w kontrakcie danych.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Plan B / uwaga: Jeżeli grupa jest szybka, dodaj przypadek konfliktu dwóch równorzędnych źródeł.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repo:data/BOUNDARY_DATASET_CARD.md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Demo pokazuje pipeline, nie dowód jakości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Powiedz wprost: mini-trening jest demonstracją techniczną. Jakość oceniamy na wcześniej przygotowanym pełnym Q1.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repo:results/sprint3/demo_dry_run.json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Trening obserwujemy w trzech warstwach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 tych trzech warstwach pilnuj pięciu sygnałów: loss, gradient, VRAM, czas i truncation. Po biegu dochodzi test adaptera przez reload. Loss nie jest bramką jakości biznesowej.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4 min</a:t>
            </a:r>
          </a:p>
          <a:p xmlns:a="http://schemas.openxmlformats.org/drawingml/2006/main">
            <a:r>
              <a:t>Cel: Q1 zamraża warunki eksperymentu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Pokaż plik konfiguracji w repo. Zwróć uwagę, że długość 1728 wynika z audytu tokenów, a nie z domyślnej wartości.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repo:configs/qlora_q1_v1.json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Adapter Q1 waży 66,1 MB; merged BF16 około 8,06 GB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Pokaż manifest z model_revision i hashami. Rozmiar katalogu adaptera wynosi około 77,6 MB, a same wagi 66,1 MB.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repo:results/sprint3/q1_adapter_manifest.json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Reload jest testem; merge jest decyzją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 naszym projekcie safe_merge i reload przeszły. Nie zakładaj, że sam zapis pliku oznacza poprawny artefakt.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Checkpoint może zawieść przy zapisie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To wartościowy element szkolenia: awaria checkpointu po poprawnym kroku treningu nie unieważnia metody, ale zmienia operacyjny kontrakt resume.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repo:results/sprint3/q0_checkpoint_incident.json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Plan B chroni tempo warsztatu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 trakcie właściwego warsztatu Luna/low prowadzi mechaniczne monitorowanie. Prowadzący kontroluje narrację i moment przełączenia na fallback.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Jedna metryka ukrywa koszt błędów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Dodaj source integrity, schema validity, status recall, FPR, koszt tokenów i rozrzut między seedami. Metryki odpowiadają różnym pytaniom.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repo:results/sprint3/m3_summary.md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Boundary data zmieniły wynik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To najważniejszy wykres warsztatu. Wniosek brzmi: wartość pochodzi z kontrastowych danych, nie z etykiety QLoRA.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repo:results/sprint3/m3_summary.md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Trzy seedy potwierdziły łatwe validation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Automatyczna bramka była READY, ale review analityczny zatrzymał otwarcie testów. To pokazuje rolę bramki jakościowej ponad samym automatem.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repo:results/sprint4/m4_pretest_summary.md</a:t>
            </a:r>
          </a:p>
          <a:p xmlns:a="http://schemas.openxmlformats.org/drawingml/2006/main">
            <a:r>
              <a:t>- repo:docs/14_sprint_4_analytical_review.md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Prompt v2 naprawił kontrakt, nie decyzje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Severity v2 poniżej 90% w pierwszym seedzie wynikało z błędnych statusów, nie z niespójnej mapy pól. Guard potwierdził spójność kontraktu.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repo:results/sprint4_2b/comparison.md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Błędy mają różne przyczyny i różne remedia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Nie rób jednej poprawki na wszystkie błędy. Najpierw sklasyfikuj przyczynę: dane, prompt, model, guard czy niejednoznaczny gold.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repo:results/sprint4_2b/comparison.md</a:t>
            </a:r>
          </a:p>
          <a:p xmlns:a="http://schemas.openxmlformats.org/drawingml/2006/main">
            <a:r>
              <a:t>- repo:docs/16_sprint_4_2b_error_analysis_and_rerun_plan.md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FC-209: 27 &gt; 5, ale model zwrócił PASS 3/3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Pokaż pełny output dla jednego seeda. Model nawet zapisał calculation.result=27. To nie jest brak danych ani błąd parsera.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Pytanie do grupy: Czy kolejny prompt rozwiązuje problem, czy tylko przesuwa ryzyko?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repo:data/diagnostic/diagnostic_set_v1.jsonl#FC-209</a:t>
            </a:r>
          </a:p>
          <a:p xmlns:a="http://schemas.openxmlformats.org/drawingml/2006/main">
            <a:r>
              <a:t>- repo:results/sprint4_2b/comparison.md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Guard blokuje sprzeczność, nie naprawia odpowiedzi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Wyjaśnij dwa kontrakty: model quality pozostaje HOLD, a operational containment jest READY dla demonstracji. Nie mieszaj ich w jedną bramkę.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repo:results/sprint4_2c/report.md</a:t>
            </a:r>
          </a:p>
          <a:p xmlns:a="http://schemas.openxmlformats.org/drawingml/2006/main">
            <a:r>
              <a:t>- repo:configs/deterministic_decision_rules_v1.json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7 min</a:t>
            </a:r>
          </a:p>
          <a:p xmlns:a="http://schemas.openxmlformats.org/drawingml/2006/main">
            <a:r>
              <a:t>Cel: Czy otwieramy protected evidence?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Oczekiwana decyzja: HOLD protected evidence, READY do materiału szkoleniowego. Retrospektywny guard nie jest niezależnym dowodem generalizacji.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repo:results/sprint4/m4_pretest_summary.md</a:t>
            </a:r>
          </a:p>
          <a:p xmlns:a="http://schemas.openxmlformats.org/drawingml/2006/main">
            <a:r>
              <a:t>- repo:results/sprint4_2b/comparison.md</a:t>
            </a:r>
          </a:p>
          <a:p xmlns:a="http://schemas.openxmlformats.org/drawingml/2006/main">
            <a:r>
              <a:t>- repo:results/sprint4_2c/report.md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Portfel use case’ów wymaga różnych barier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Przykłady: kontrola sprawozdań, audyt, odchylenia, reklamacje, incydenty. Wysoka konsekwencja nie wyklucza LLM, lecz zwiększa wymagania.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repo:docs/02_financial_control_copilot.md</a:t>
            </a:r>
          </a:p>
          <a:p xmlns:a="http://schemas.openxmlformats.org/drawingml/2006/main">
            <a:r>
              <a:t>- https://arxiv.org/abs/2311.11944</a:t>
            </a:r>
          </a:p>
          <a:p xmlns:a="http://schemas.openxmlformats.org/drawingml/2006/main">
            <a:r>
              <a:t>- https://arxiv.org/abs/2109.00122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Adapter to tylko część model risk management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Połącz techniczne artefakty z właścicielstwem procesu. Manifest adaptera, dataset card i gate są dokumentami governance.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https://www.eba.europa.eu/publications-and-media/press-releases/eba-publishes-follow-report-use-machine-learning-internal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repo:results/sprint4_2c/report.md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3 min</a:t>
            </a:r>
          </a:p>
          <a:p xmlns:a="http://schemas.openxmlformats.org/drawingml/2006/main">
            <a:r>
              <a:t>Cel: Human oversight zależy od wpływu systemu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To nie jest porada prawna. AI Act klasyfikuje według intended purpose i wpływu; systemy oceny zdolności kredytowej mogą należeć do kategorii high-risk. Zawsze sprawdzaj aktualny tekst i interpretację banku.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https://eur-lex.europa.eu/legal-content/EN/TXT/?uri=celex%3A32024R1689</a:t>
            </a:r>
          </a:p>
          <a:p xmlns:a="http://schemas.openxmlformats.org/drawingml/2006/main">
            <a:r>
              <a:t>- https://www.eba.europa.eu/publications-and-media/press-releases/eba-publishes-follow-report-use-machine-learning-internal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2 min</a:t>
            </a:r>
          </a:p>
          <a:p xmlns:a="http://schemas.openxmlformats.org/drawingml/2006/main">
            <a:r>
              <a:t>Cel: Plan 90 dni zaczyna się od kontraktu, nie od GPU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Zakończ rekomendacją sekwencji pracy. Nie obiecuj wdrożenia produkcyjnego w 90 dni — to plan dojścia do wiarygodnej decyzji pilotażowej.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repo:docs/01_training_blueprint.md</a:t>
            </a:r>
          </a:p>
          <a:p xmlns:a="http://schemas.openxmlformats.org/drawingml/2006/main">
            <a:r>
              <a:t>- repo:results/sprint4_2c/report.md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Czas: 1 min</a:t>
            </a:r>
          </a:p>
          <a:p xmlns:a="http://schemas.openxmlformats.org/drawingml/2006/main">
            <a:r>
              <a:t>Cel: Dane graniczne. Wiele metryk. Hybrydowa odpowiedzialność.</a:t>
            </a:r>
          </a:p>
          <a:p xmlns:a="http://schemas.openxmlformats.org/drawingml/2006/main">
            <a:r>
              <a:t>Przebieg:</a:t>
            </a:r>
          </a:p>
          <a:p xmlns:a="http://schemas.openxmlformats.org/drawingml/2006/main">
            <a:r>
              <a:t>Wróć do FC-209. Trzy prawdy: dane zmieniły Q1; jedna metryka nie wystarczyła; deterministyczny guard zatrzymał błąd, którego prompt nie usunął.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Pytanie do grupy: Którą jedną rzecz zmienicie w następnym eksperymencie?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repo:docs/12_sprint_3_report.md</a:t>
            </a:r>
          </a:p>
          <a:p xmlns:a="http://schemas.openxmlformats.org/drawingml/2006/main">
            <a:r>
              <a:t>- repo:results/sprint4_2b/comparison.md</a:t>
            </a:r>
          </a:p>
          <a:p xmlns:a="http://schemas.openxmlformats.org/drawingml/2006/main">
            <a:r>
              <a:t>- repo:results/sprint4_2c/report.md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ca806114be45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e5cb94e184437b" /><Relationship Type="http://schemas.openxmlformats.org/officeDocument/2006/relationships/slideLayout" Target="/ppt/slideLayouts/slideLayout1.xml" Id="Red997f6c10f142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997f6c10f142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318db49084cbd" /><Relationship Type="http://schemas.openxmlformats.org/officeDocument/2006/relationships/notesSlide" Target="/ppt/notesSlides/notesSlide1.xml" Id="Rd76f2a961f7b45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3026280ed4790" /><Relationship Type="http://schemas.openxmlformats.org/officeDocument/2006/relationships/notesSlide" Target="/ppt/notesSlides/notesSlide2.xml" Id="Rfdd8306cafdf4a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4328969db471d" /><Relationship Type="http://schemas.openxmlformats.org/officeDocument/2006/relationships/notesSlide" Target="/ppt/notesSlides/notesSlide3.xml" Id="R2945b3a886a943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dc8ced0954db4" /><Relationship Type="http://schemas.openxmlformats.org/officeDocument/2006/relationships/notesSlide" Target="/ppt/notesSlides/notesSlide4.xml" Id="Ra74d3c6e390748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66064ff4f41f6" /><Relationship Type="http://schemas.openxmlformats.org/officeDocument/2006/relationships/notesSlide" Target="/ppt/notesSlides/notesSlide5.xml" Id="R255226f3da7849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f358b266cf4edf" /><Relationship Type="http://schemas.openxmlformats.org/officeDocument/2006/relationships/notesSlide" Target="/ppt/notesSlides/notesSlide6.xml" Id="Rd814ebf3aa0049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5de3f1198478c" /><Relationship Type="http://schemas.openxmlformats.org/officeDocument/2006/relationships/notesSlide" Target="/ppt/notesSlides/notesSlide7.xml" Id="R8106a0b21ed24d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e8e501e50e49ab" /><Relationship Type="http://schemas.openxmlformats.org/officeDocument/2006/relationships/notesSlide" Target="/ppt/notesSlides/notesSlide8.xml" Id="R74353229560048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251b8ddb747ee" /><Relationship Type="http://schemas.openxmlformats.org/officeDocument/2006/relationships/notesSlide" Target="/ppt/notesSlides/notesSlide9.xml" Id="Rd1586b77f5384c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fb502dfe240ea" /><Relationship Type="http://schemas.openxmlformats.org/officeDocument/2006/relationships/notesSlide" Target="/ppt/notesSlides/notesSlide10.xml" Id="Rcbdd7937f66f45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d18fd0c3bc4aae" /><Relationship Type="http://schemas.openxmlformats.org/officeDocument/2006/relationships/notesSlide" Target="/ppt/notesSlides/notesSlide11.xml" Id="R07694e288f1048b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6835cc61247bc" /><Relationship Type="http://schemas.openxmlformats.org/officeDocument/2006/relationships/notesSlide" Target="/ppt/notesSlides/notesSlide12.xml" Id="R70ba02bf192a47d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fd97f51364247" /><Relationship Type="http://schemas.openxmlformats.org/officeDocument/2006/relationships/notesSlide" Target="/ppt/notesSlides/notesSlide13.xml" Id="R9abcff00be104eb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5317fbcb3480e" /><Relationship Type="http://schemas.openxmlformats.org/officeDocument/2006/relationships/notesSlide" Target="/ppt/notesSlides/notesSlide14.xml" Id="R62ee4cc0c4f2431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df4ef01d74bcc" /><Relationship Type="http://schemas.openxmlformats.org/officeDocument/2006/relationships/notesSlide" Target="/ppt/notesSlides/notesSlide15.xml" Id="Rda11143a21014d3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19df2a052c4979" /><Relationship Type="http://schemas.openxmlformats.org/officeDocument/2006/relationships/notesSlide" Target="/ppt/notesSlides/notesSlide16.xml" Id="R8e8d50aa06f34e4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b19b340e04497" /><Relationship Type="http://schemas.openxmlformats.org/officeDocument/2006/relationships/notesSlide" Target="/ppt/notesSlides/notesSlide17.xml" Id="R846ae1b9336945d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29abedd7d40d9" /><Relationship Type="http://schemas.openxmlformats.org/officeDocument/2006/relationships/notesSlide" Target="/ppt/notesSlides/notesSlide18.xml" Id="Rb834ccf006ec4ab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0be113827e4f5e" /><Relationship Type="http://schemas.openxmlformats.org/officeDocument/2006/relationships/notesSlide" Target="/ppt/notesSlides/notesSlide19.xml" Id="R528e0e438eaa458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9ccffb73c4235" /><Relationship Type="http://schemas.openxmlformats.org/officeDocument/2006/relationships/notesSlide" Target="/ppt/notesSlides/notesSlide20.xml" Id="R05045056999b462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9259e67a9742bf" /><Relationship Type="http://schemas.openxmlformats.org/officeDocument/2006/relationships/notesSlide" Target="/ppt/notesSlides/notesSlide21.xml" Id="Rbb68b5c82bf7432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d19930ac346d2" /><Relationship Type="http://schemas.openxmlformats.org/officeDocument/2006/relationships/notesSlide" Target="/ppt/notesSlides/notesSlide22.xml" Id="Re3c5777e026a4e2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d7c24cebb40c3" /><Relationship Type="http://schemas.openxmlformats.org/officeDocument/2006/relationships/notesSlide" Target="/ppt/notesSlides/notesSlide23.xml" Id="R74a952103cd946a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d2a397a5f4832" /><Relationship Type="http://schemas.openxmlformats.org/officeDocument/2006/relationships/notesSlide" Target="/ppt/notesSlides/notesSlide24.xml" Id="Re7afd766ef4640e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33e73ea1c4696" /><Relationship Type="http://schemas.openxmlformats.org/officeDocument/2006/relationships/notesSlide" Target="/ppt/notesSlides/notesSlide25.xml" Id="Re2b16d9a3fe6414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cf8276e714b32" /><Relationship Type="http://schemas.openxmlformats.org/officeDocument/2006/relationships/notesSlide" Target="/ppt/notesSlides/notesSlide26.xml" Id="R803e3a1b0eac439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3ebd383f145bf" /><Relationship Type="http://schemas.openxmlformats.org/officeDocument/2006/relationships/notesSlide" Target="/ppt/notesSlides/notesSlide27.xml" Id="R030c8f46410c4ff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81e7f388f49ed" /><Relationship Type="http://schemas.openxmlformats.org/officeDocument/2006/relationships/notesSlide" Target="/ppt/notesSlides/notesSlide28.xml" Id="R85df4d8b22f142d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6b852ce6f4818" /><Relationship Type="http://schemas.openxmlformats.org/officeDocument/2006/relationships/notesSlide" Target="/ppt/notesSlides/notesSlide29.xml" Id="R77692e55e7d6458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0e993fad94bca" /><Relationship Type="http://schemas.openxmlformats.org/officeDocument/2006/relationships/notesSlide" Target="/ppt/notesSlides/notesSlide30.xml" Id="Rb7892d6ca7c14ec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17a346ae04263" /><Relationship Type="http://schemas.openxmlformats.org/officeDocument/2006/relationships/chart" Target="/ppt/slides/charts/chart1.xml" Id="Rea45ae34e1544f59" /><Relationship Type="http://schemas.openxmlformats.org/officeDocument/2006/relationships/notesSlide" Target="/ppt/notesSlides/notesSlide31.xml" Id="Rbc7d43f03293443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502bd5a0b4118" /><Relationship Type="http://schemas.openxmlformats.org/officeDocument/2006/relationships/notesSlide" Target="/ppt/notesSlides/notesSlide32.xml" Id="Re02d7701153146e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532734d634065" /><Relationship Type="http://schemas.openxmlformats.org/officeDocument/2006/relationships/notesSlide" Target="/ppt/notesSlides/notesSlide33.xml" Id="R9ffcbe2eeda3465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2590439e04db4" /><Relationship Type="http://schemas.openxmlformats.org/officeDocument/2006/relationships/notesSlide" Target="/ppt/notesSlides/notesSlide34.xml" Id="R37584bdd1ba4441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33a42ebf04e4d" /><Relationship Type="http://schemas.openxmlformats.org/officeDocument/2006/relationships/notesSlide" Target="/ppt/notesSlides/notesSlide35.xml" Id="R4a043782273a43c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e8151e7a64cfc" /><Relationship Type="http://schemas.openxmlformats.org/officeDocument/2006/relationships/notesSlide" Target="/ppt/notesSlides/notesSlide36.xml" Id="Rfcd5454a12eb42e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8c1cffc6d427b" /><Relationship Type="http://schemas.openxmlformats.org/officeDocument/2006/relationships/notesSlide" Target="/ppt/notesSlides/notesSlide37.xml" Id="Rc59521760685456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5c79def5047d8" /><Relationship Type="http://schemas.openxmlformats.org/officeDocument/2006/relationships/notesSlide" Target="/ppt/notesSlides/notesSlide38.xml" Id="R881ebd0b4468471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2fd428d4848a3" /><Relationship Type="http://schemas.openxmlformats.org/officeDocument/2006/relationships/notesSlide" Target="/ppt/notesSlides/notesSlide39.xml" Id="Re9bf3a80dda246d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675a2b2e641ea" /><Relationship Type="http://schemas.openxmlformats.org/officeDocument/2006/relationships/notesSlide" Target="/ppt/notesSlides/notesSlide40.xml" Id="R0df6fd19b811421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e23717459f4791" /><Relationship Type="http://schemas.openxmlformats.org/officeDocument/2006/relationships/notesSlide" Target="/ppt/notesSlides/notesSlide41.xml" Id="Rd7b18371f73e4ef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813b3224d41a5" /><Relationship Type="http://schemas.openxmlformats.org/officeDocument/2006/relationships/chart" Target="/ppt/slides/charts/chart2.xml" Id="R22eea255beae49db" /><Relationship Type="http://schemas.openxmlformats.org/officeDocument/2006/relationships/notesSlide" Target="/ppt/notesSlides/notesSlide42.xml" Id="R08f8a1363a964c1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5477e4fbc49da" /><Relationship Type="http://schemas.openxmlformats.org/officeDocument/2006/relationships/notesSlide" Target="/ppt/notesSlides/notesSlide43.xml" Id="R7dc63a7bcc594cf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3b924d7134adb" /><Relationship Type="http://schemas.openxmlformats.org/officeDocument/2006/relationships/chart" Target="/ppt/slides/charts/chart3.xml" Id="R628b233edb964c33" /><Relationship Type="http://schemas.openxmlformats.org/officeDocument/2006/relationships/notesSlide" Target="/ppt/notesSlides/notesSlide44.xml" Id="R041074fc4d5f4ca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7635bcfbb4559" /><Relationship Type="http://schemas.openxmlformats.org/officeDocument/2006/relationships/notesSlide" Target="/ppt/notesSlides/notesSlide45.xml" Id="R4e79d016ab74489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06cb66734e4856" /><Relationship Type="http://schemas.openxmlformats.org/officeDocument/2006/relationships/notesSlide" Target="/ppt/notesSlides/notesSlide46.xml" Id="R773f02ba1a4c4590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68623381db4b6c" /><Relationship Type="http://schemas.openxmlformats.org/officeDocument/2006/relationships/notesSlide" Target="/ppt/notesSlides/notesSlide47.xml" Id="R6e8d80a088044651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38476d32d4217" /><Relationship Type="http://schemas.openxmlformats.org/officeDocument/2006/relationships/notesSlide" Target="/ppt/notesSlides/notesSlide48.xml" Id="R2ecab04b44eb48e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a8ba0d1dd424e" /><Relationship Type="http://schemas.openxmlformats.org/officeDocument/2006/relationships/notesSlide" Target="/ppt/notesSlides/notesSlide49.xml" Id="R2e75ad61b5af4eec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c3dcf05ab4e7f" /><Relationship Type="http://schemas.openxmlformats.org/officeDocument/2006/relationships/notesSlide" Target="/ppt/notesSlides/notesSlide50.xml" Id="R86b2ddd9680a4dc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543dc47f14968" /><Relationship Type="http://schemas.openxmlformats.org/officeDocument/2006/relationships/notesSlide" Target="/ppt/notesSlides/notesSlide51.xml" Id="R80e0a797e97c4d2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7c473bb5c47f9" /><Relationship Type="http://schemas.openxmlformats.org/officeDocument/2006/relationships/notesSlide" Target="/ppt/notesSlides/notesSlide52.xml" Id="R2ae9417792d54265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468c131a204857" /><Relationship Type="http://schemas.openxmlformats.org/officeDocument/2006/relationships/notesSlide" Target="/ppt/notesSlides/notesSlide53.xml" Id="Re542d3a600b4446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Zero-shot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JSON</c:v>
              </c:pt>
              <c:pt idx="1">
                <c:v>Schemat</c:v>
              </c:pt>
              <c:pt idx="2">
                <c:v>Status</c:v>
              </c:pt>
              <c:pt idx="3">
                <c:v>Severity</c:v>
              </c:pt>
            </c:strLit>
          </c:cat>
          <c:val>
            <c:numLit>
              <c:formatCode>0"%"</c:formatCode>
              <c:ptCount val="4"/>
              <c:pt idx="0">
                <c:v>100</c:v>
              </c:pt>
              <c:pt idx="1">
                <c:v>0</c:v>
              </c:pt>
              <c:pt idx="2">
                <c:v>30</c:v>
              </c:pt>
              <c:pt idx="3">
                <c:v>30</c:v>
              </c:pt>
            </c:numLit>
          </c:val>
        </c:ser>
        <c:ser>
          <c:idx val="1"/>
          <c:order val="1"/>
          <c:tx>
            <c:v>Few-shot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JSON</c:v>
              </c:pt>
              <c:pt idx="1">
                <c:v>Schemat</c:v>
              </c:pt>
              <c:pt idx="2">
                <c:v>Status</c:v>
              </c:pt>
              <c:pt idx="3">
                <c:v>Severity</c:v>
              </c:pt>
            </c:strLit>
          </c:cat>
          <c:val>
            <c:numLit>
              <c:formatCode>0"%"</c:formatCode>
              <c:ptCount val="4"/>
              <c:pt idx="0">
                <c:v>100</c:v>
              </c:pt>
              <c:pt idx="1">
                <c:v>90</c:v>
              </c:pt>
              <c:pt idx="2">
                <c:v>40</c:v>
              </c:pt>
              <c:pt idx="3">
                <c:v>30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672"/>
                </a:solidFill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00000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Macro-F1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3"/>
              <c:pt idx="0">
                <c:v>B3</c:v>
              </c:pt>
              <c:pt idx="1">
                <c:v>Q0</c:v>
              </c:pt>
              <c:pt idx="2">
                <c:v>Q1</c:v>
              </c:pt>
            </c:strLit>
          </c:cat>
          <c:val>
            <c:numLit>
              <c:formatCode>0"%"</c:formatCode>
              <c:ptCount val="3"/>
              <c:pt idx="0">
                <c:v>89.4</c:v>
              </c:pt>
              <c:pt idx="1">
                <c:v>78.6</c:v>
              </c:pt>
              <c:pt idx="2">
                <c:v>100</c:v>
              </c:pt>
            </c:numLit>
          </c:val>
        </c:ser>
        <c:ser>
          <c:idx val="1"/>
          <c:order val="1"/>
          <c:tx>
            <c:v>Pair accuracy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B3</c:v>
              </c:pt>
              <c:pt idx="1">
                <c:v>Q0</c:v>
              </c:pt>
              <c:pt idx="2">
                <c:v>Q1</c:v>
              </c:pt>
            </c:strLit>
          </c:cat>
          <c:val>
            <c:numLit>
              <c:formatCode>0"%"</c:formatCode>
              <c:ptCount val="3"/>
              <c:pt idx="0">
                <c:v>81.7</c:v>
              </c:pt>
              <c:pt idx="1">
                <c:v>61.7</c:v>
              </c:pt>
              <c:pt idx="2">
                <c:v>100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672"/>
                </a:solidFill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00000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Severity v1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3"/>
              <c:pt idx="0">
                <c:v>Seed 27</c:v>
              </c:pt>
              <c:pt idx="1">
                <c:v>Seed 28</c:v>
              </c:pt>
              <c:pt idx="2">
                <c:v>Seed 29</c:v>
              </c:pt>
            </c:strLit>
          </c:cat>
          <c:val>
            <c:numLit>
              <c:formatCode>0"%"</c:formatCode>
              <c:ptCount val="3"/>
              <c:pt idx="0">
                <c:v>76.7</c:v>
              </c:pt>
              <c:pt idx="1">
                <c:v>83.3</c:v>
              </c:pt>
              <c:pt idx="2">
                <c:v>90</c:v>
              </c:pt>
            </c:numLit>
          </c:val>
        </c:ser>
        <c:ser>
          <c:idx val="1"/>
          <c:order val="1"/>
          <c:tx>
            <c:v>Severity v2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Seed 27</c:v>
              </c:pt>
              <c:pt idx="1">
                <c:v>Seed 28</c:v>
              </c:pt>
              <c:pt idx="2">
                <c:v>Seed 29</c:v>
              </c:pt>
            </c:strLit>
          </c:cat>
          <c:val>
            <c:numLit>
              <c:formatCode>0"%"</c:formatCode>
              <c:ptCount val="3"/>
              <c:pt idx="0">
                <c:v>86.7</c:v>
              </c:pt>
              <c:pt idx="1">
                <c:v>93.3</c:v>
              </c:pt>
              <c:pt idx="2">
                <c:v>96.7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672"/>
                </a:solidFill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00000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50B5C3-2F0F-4D8C-AC75-A9384237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B21453-491E-42FC-BC64-7627B0EE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WARSZTAT • 180 MINUT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FAF92-C4B0-4EF1-8B90-6D605633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38300"/>
            <a:ext cx="10001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Parameter-Efficient</a:t>
            </a:r>
          </a:p>
          <a:p xmlns:a="http://schemas.openxmlformats.org/drawingml/2006/main">
            <a:pPr algn="l">
              <a:defRPr sz="5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Fine-Tuning w banku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8C1BC-23C4-423A-828C-CD6ABC21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Od LoRA i QLoRA do wiarygodnego benchmarku oraz bezpiecznej architektury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7E1D63-29AD-4986-8FB1-E1FC2C76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LoRA • QLoRA • dane • benchmark • guard</a:t>
            </a:r>
          </a:p>
        </p:txBody>
      </p:sp>
    </p:spTree>
    <p:extLst>
      <p:ext uri="{BB962C8B-B14F-4D97-AF65-F5344CB8AC3E}">
        <p14:creationId xmlns:p14="http://schemas.microsoft.com/office/powerpoint/2010/main" val="3702553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F5FAF6-44D6-4C7B-B219-BAB0B548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OTWARCIE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54907-9CB2-4930-8B01-64033B6B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28EE7-2539-425D-84BF-33B6955E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0287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 policzył 27. Potem uznał, że 27 ≤ 5.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E7707-3EA8-4D3E-93CB-F717564A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857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3C644D-B383-4AA6-941A-C60FF50D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942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Trzy seedy, ten sam błąd, poprawny JSON i poprawne źródła. To będzie nasz test rzeczywistości.</a:t>
            </a:r>
          </a:p>
        </p:txBody>
      </p:sp>
    </p:spTree>
    <p:extLst>
      <p:ext uri="{BB962C8B-B14F-4D97-AF65-F5344CB8AC3E}">
        <p14:creationId xmlns:p14="http://schemas.microsoft.com/office/powerpoint/2010/main" val="10388244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6EC275-D040-4C2C-A69F-205DBA7F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OTWARCIE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627B5E-995C-41CB-AE5D-320B29F4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60E99-49C2-469F-A94C-99ACCBA0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Sukces ma trzy niezależne wymiary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87912-CE99-45D4-85B4-AD913082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752CE-9294-4AB6-BB55-38C739D7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6EEE0-E366-407E-9960-84AF15B6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Decyzja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D4097A-48D1-4B10-BB77-21FE7515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Czy status odpowiada przesłankom i kosztowi błędu?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284D2-65F0-4284-8A86-6FDC877D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DC33BE-BA2B-4E3E-BFC0-02EF6CA9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0B372-023A-4C27-B40C-4A80E753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Dowód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C4783A-8458-4033-B8BD-D7435ABE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Czy wynik wskazuje dozwolone, wystarczające źródła?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4A0107-F7A9-409F-A519-F69CA275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13CD51-2020-4303-AA50-59BC1756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5DF8D-DEA1-4213-BC62-702B0B3F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Kontrakt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AFB5AE-5D64-44C2-90D9-EE2F6430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Czy JSON, severity i human review są spójne?</a:t>
            </a:r>
          </a:p>
        </p:txBody>
      </p:sp>
    </p:spTree>
    <p:extLst>
      <p:ext uri="{BB962C8B-B14F-4D97-AF65-F5344CB8AC3E}">
        <p14:creationId xmlns:p14="http://schemas.microsoft.com/office/powerpoint/2010/main" val="251917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CA438A-1DCC-4DFB-8790-87AD1F92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OTWARCIE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03A2F-B33A-4127-B902-AD57E57B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2A929-FCE3-4B16-81DC-21D651B6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Copilot wspiera kontrolera — nie zatwierdza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5B1782-CA6F-4E5A-8D33-5341FA61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CFFCE-3B7D-4CB2-B8E3-88171E5A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LLM + adapter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12441-938C-4970-8C83-34694D9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klasyfikuje 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porządkuje ustalenie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cytuje dowody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proponuje eskalację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F26E2-1B5D-4059-9601-3E5484C9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8F3839-567A-4328-8E5A-EDF0A641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Poza zakresem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850DD-10E4-4CD0-8001-3BEE6D18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zatwierdzenie sprawozdania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zaksięgowanie korekty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decyzja regulacyjna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decyzja kredytowa</a:t>
            </a:r>
          </a:p>
        </p:txBody>
      </p:sp>
    </p:spTree>
    <p:extLst>
      <p:ext uri="{BB962C8B-B14F-4D97-AF65-F5344CB8AC3E}">
        <p14:creationId xmlns:p14="http://schemas.microsoft.com/office/powerpoint/2010/main" val="11677972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2C233-9AFB-4F4C-840E-D3C27BA4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OTWARCIE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89699-8730-42E1-A1E0-E3CDE1F6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BA91DB-D8D9-44E4-A797-7E06EB72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Jedna historia: zachowanie → trening → dowód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22" name=""/>
          <p:cNvCxnSpPr/>
          <p:nvPr/>
        </p:nvCxnSpPr>
        <p:spPr>
          <a:xfrm xmlns:a="http://schemas.openxmlformats.org/drawingml/2006/main">
            <a:off x="495300" y="3257550"/>
            <a:ext cx="11144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D0B34-246F-4538-BF97-3910FF0C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4AF0C5-ACD2-438D-A54A-1DFB50FC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0–80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40911-E6DC-4823-BC14-4C9E6836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Mechanika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B9E520-05F9-4D1A-86D8-A7E8473C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Kiedy PEFT, jak działa LoRA i gdzie QLoRA oszczędza pamięć.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413A6-C038-4679-865A-A7D1E03F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86609E-4151-4C30-ACE6-9DF21D83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90–148 min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559555-DB39-4DF0-8463-1877445C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Warsztat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572047-13CB-4B54-8685-C4C187DA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Dane graniczne, konfiguracja, trening, adapter i reload.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857DCA-0753-4C95-B113-9108C868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4E8D12-FA32-4032-A418-EFEB7A76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148–180 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3FB6FB-684F-4A0B-8BF4-FABF675F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Decyzja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D8139-F9EC-45A3-ADFF-76FC612C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Benchmark, FC-209, guard oraz bankowy operating model.</a:t>
            </a:r>
          </a:p>
        </p:txBody>
      </p:sp>
    </p:spTree>
    <p:extLst>
      <p:ext uri="{BB962C8B-B14F-4D97-AF65-F5344CB8AC3E}">
        <p14:creationId xmlns:p14="http://schemas.microsoft.com/office/powerpoint/2010/main" val="7440555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CDCBD-2D9C-4666-A8CF-84DD8165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DOBÓR METODY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18B35-6445-420D-961E-6CAF0E78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7A731-7BEB-401E-8DAE-B973F39B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Czy brakuje wiedzy, czy zachowania?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60074-6EDA-4B58-9B92-0D78C6C3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55097F-2981-4D20-9090-277BB862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Wiedza zmienna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64762E-8683-4B9E-B678-D7EDBE3A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procedury i regulaminy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bieżące dane klienta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wersje raportów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progi z polityki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58C48F-3C4A-47EC-B863-7ADE6C5E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44A64-A36E-4A64-96E5-3FE18FA0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Zachowanie stabilne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ADE4FA-BE11-4C02-B776-B91FDFA3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format odpowiedzi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styl ustalenia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hierarchia statusów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zasady eskalacji</a:t>
            </a:r>
          </a:p>
        </p:txBody>
      </p:sp>
    </p:spTree>
    <p:extLst>
      <p:ext uri="{BB962C8B-B14F-4D97-AF65-F5344CB8AC3E}">
        <p14:creationId xmlns:p14="http://schemas.microsoft.com/office/powerpoint/2010/main" val="20338301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BB7997-9757-4804-9D69-3A9303AE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DOBÓR METODY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A6643-1B63-469D-BC80-89DF23D4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887A8-3660-44E8-B468-BA176E0E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Każda interwencja rozwiązuje inny problem</a:t>
            </a:r>
          </a:p>
        </p:txBody>
      </p:sp>
      <p:cxnSp>
        <p:nvCxnSpPr>
          <p:cNvPr id="39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BA52C-1CCF-47DA-83C1-91FCFDBB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90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8BB8DA-294B-4AE8-94B1-74E76702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431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A199F-CEED-4B46-86F7-137F51C1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097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FB6B06-9E64-421F-A20B-AC3D54E9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431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Pierwszy wybór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262C6-42B9-4C5C-B267-3E7C632A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09750"/>
            <a:ext cx="5010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5CFE9-B672-452B-A89B-711A6B1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43100"/>
            <a:ext cx="481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Sygnał ostrzegawczy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4762B-17E2-4E47-A0B7-BFADF882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3905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8D9B1-4612-463F-97B2-534C887C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Lepsza instrukcja i format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8D5DF0-2340-437A-92F8-8AD98FAC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62200"/>
            <a:ext cx="247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28197E-DD01-4FB2-BD21-2D714621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765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Prompting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840FD-0592-4C24-A86D-478169B7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62200"/>
            <a:ext cx="5010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91406C-0897-4252-83A9-5CF6357B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76500"/>
            <a:ext cx="4819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Długi prompt w każdym wywołaniu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A88C07-2ACC-4A40-B847-665F4E0B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71800"/>
            <a:ext cx="3905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36472A-E83A-4ADF-8571-A13A7102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Aktualne dokumenty i fakty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3ADA7D-FBDB-4267-82C5-71E4E69F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247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A69D71-FEAC-45E8-AF3A-A8A334D8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861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23D3B4-63CE-41DD-B16E-3D4E1FA2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71800"/>
            <a:ext cx="5010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59260C-A61A-4B90-AFD3-3CEDE063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86100"/>
            <a:ext cx="4819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Retrieval nie uczy procedury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94E4A-9ECC-4989-BE8D-644DC642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3905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1CF172-F73B-4065-A52C-53DB261C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Stabilne zachowanie domenowe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B9267C-72DD-4376-BD86-A3F98A7B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81400"/>
            <a:ext cx="247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A4F017-29F2-4A4F-9690-BEDF9DE9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95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SFT + PEFT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48123B-DD03-4136-9FC3-789B8BC4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81400"/>
            <a:ext cx="5010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8582DC-321D-4B86-A69B-6B851740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95700"/>
            <a:ext cx="4819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Potrzebne goldy i benchmark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148CB1-97E6-41F8-9D37-C343E621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3905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015AC7-2921-4953-BDB0-EE84959E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Nowy rozkład języka domeny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6C13DA-B6AB-4AB4-A763-71892378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91000"/>
            <a:ext cx="247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106DB5-0B28-4514-9622-D3579982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053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Continued pretraining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BBD68A-8AEA-492D-B983-6FE79D9C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91000"/>
            <a:ext cx="5010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11AA1C-237E-4046-A2E6-CF3597ED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05300"/>
            <a:ext cx="4819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Wysoki koszt i ryzyko driftu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F0FC82-4FBB-4568-B13A-B85A5A4C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Pełny fine-tuning jest opcją architektoniczną, a nie domyślnym punktem startu.</a:t>
            </a:r>
          </a:p>
        </p:txBody>
      </p:sp>
    </p:spTree>
    <p:extLst>
      <p:ext uri="{BB962C8B-B14F-4D97-AF65-F5344CB8AC3E}">
        <p14:creationId xmlns:p14="http://schemas.microsoft.com/office/powerpoint/2010/main" val="11834135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943EFE-F254-44FD-850E-B4E31077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DOBÓR METODY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E1E390-CBA9-446B-B56A-62F82812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56BD2-CE46-4AAC-8417-2D99B50D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Gdzie PEFT ma sens w banku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D7FAE-BB82-4B78-8301-84B99C5D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F87AC-27BC-4B26-91D6-4C5A1C8A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DOBRY FIT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A45E4D-F388-4572-A021-908EF24E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Kontrole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3EBE16-ECAA-4F3F-8599-564FB314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Klasyfikacja ustaleń, kompletność checklist, evidence routing.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B80A0F-B9ED-47FE-900A-B34351B7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A86999-15B1-4D3B-914B-F94263B3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WARUNKOWO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DDCC29-72A9-40F2-B8EC-CB403F68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Obsługa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753441-3361-4EE0-B26A-B0F2498B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Triage reklamacji i incydentów z obowiązkową eskalacją.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092809-09F1-4831-AD83-E88DFBAE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0870A3-6CF9-4033-A837-F0060BBE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5D5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5D5D"/>
                </a:solidFill>
                <a:latin typeface="Arial"/>
                <a:ea typeface="Arial"/>
                <a:cs typeface="Arial"/>
              </a:rPr>
              <a:t>NIE SAMODZIELNIE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9FDFAB-EC16-485A-8F5A-5E9BDFD7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Decyzje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CD2585-9CDE-4E59-B933-F8244828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Kredyt, AML, wyjątki regulacyjne i zatwierdzenia.</a:t>
            </a:r>
          </a:p>
        </p:txBody>
      </p:sp>
    </p:spTree>
    <p:extLst>
      <p:ext uri="{BB962C8B-B14F-4D97-AF65-F5344CB8AC3E}">
        <p14:creationId xmlns:p14="http://schemas.microsoft.com/office/powerpoint/2010/main" val="9528847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D39753-106B-47F5-B0A6-C2E47C7A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6C9AF-85B0-4929-9545-444B5E4C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DOBÓR METODY • WARSZTAT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22CB4-EBCF-44E0-A2B4-ED10E6EB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C44444-4B50-4FD8-A7C5-0A8A55E5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Dobierz interwencję, zanim wybierzesz LoRA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0356A3-FAD0-40D3-9BF8-BBD3DE93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107442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9C7F4-AF0C-48D5-AFC3-FD67B9A4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0096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Procedura zmienia się co tydzień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Statusy są stabilne, ale regularnie mylone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Model nie zna słownictwa produktu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Jedna reguła brzmi: różnica &gt; próg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6BD3F-4AC7-49BF-9FB9-4B3AFC7D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4 grupy • 4 minuty • wskaż metodę i koszt błędu</a:t>
            </a:r>
          </a:p>
        </p:txBody>
      </p:sp>
    </p:spTree>
    <p:extLst>
      <p:ext uri="{BB962C8B-B14F-4D97-AF65-F5344CB8AC3E}">
        <p14:creationId xmlns:p14="http://schemas.microsoft.com/office/powerpoint/2010/main" val="1840353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176797-90F0-4DDC-96BC-841C2B22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35642D-4B88-44E3-8653-7AFE653A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0B0C0-5154-440D-A7B0-79C4B505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Full FT aktualizuje więcej, niż zwykle trzeba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5DF9F-62DE-47C5-9D7F-43175D71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1371E-3D7F-4999-881A-4345810D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Pełny fine-tuning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BF52AC-B0E9-475C-A777-A7CE06E7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gradient dla wszystkich wag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duży stan optymalizatora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osobna kopia modelu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trudniejsze wersjonowanie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A4E00-154E-445C-810A-009BB78C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3A9FA0-4F92-44D3-A109-30B6D2B8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PEFT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B82F42-BB49-4BCF-822F-2514E31C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bazowe wagi zamrożone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mały zbiór parametrów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adapter jako artefakt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łatwe przełączanie wariantów</a:t>
            </a:r>
          </a:p>
        </p:txBody>
      </p:sp>
    </p:spTree>
    <p:extLst>
      <p:ext uri="{BB962C8B-B14F-4D97-AF65-F5344CB8AC3E}">
        <p14:creationId xmlns:p14="http://schemas.microsoft.com/office/powerpoint/2010/main" val="10147320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1F3EC6-FE60-439E-B004-F1FA1506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40E974-630B-4210-9656-9155FC71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AFE8C-4934-4147-A6F1-CFD1F260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0287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LoRA uczy małą aktualizację, nie mały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D9C902-315B-48CB-879D-01DDD3C0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857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64545-4A70-489E-8695-C3121D18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942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Model bazowy pozostaje duży. Mała jest tylko trenowana korekta ΔW.</a:t>
            </a:r>
          </a:p>
        </p:txBody>
      </p:sp>
    </p:spTree>
    <p:extLst>
      <p:ext uri="{BB962C8B-B14F-4D97-AF65-F5344CB8AC3E}">
        <p14:creationId xmlns:p14="http://schemas.microsoft.com/office/powerpoint/2010/main" val="14859110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06371F-BD00-42CB-A5C1-73254F87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21697D-A791-4109-892C-E55D0F8D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AE8677-5833-4D2A-BE6E-35B0FD5D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W′ = W + (α/r)BA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FFB22-2E7E-44A8-9EB3-ABA9DC61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F956C-1BD8-439B-BBAB-DF9471D8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1B996-C61C-4383-BA23-1B364695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D68E9-36E0-4392-B488-75752737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A28F8C-B929-4FC8-9C5D-D37315E3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ZAMROŻONE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33D2AC-1273-4F8F-9AB4-6339192A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625DF-9A47-4F08-BFAB-164A159F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waga bazowa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49637-7BD4-4A62-B324-0E7DE9F4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ADA9B7-37D4-40BA-99E6-4724F2D1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TRENUJEMY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0F7FBC-E828-4D44-A5E9-B0977A3B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· 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F5B4AC-EC11-4C52-80B5-DDD23913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r ≪ 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4617C-FC0D-4EB1-8D92-7924A74E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62868-4C56-4C1D-914C-21C80BA0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SKALOWANIE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7DEEE-C27B-493C-A950-4A87F1E2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α / 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2D73A8-B7FB-45AF-A2E0-DA4D54AB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siła aktualizacji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9BD0D0-E9D8-4F29-A605-733672C3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A31B1-654B-4E41-B2BA-79D74A74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WYNIK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EF3F5B-1238-4C06-B5C2-376A5700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1C2A55-D663-4B80-82BC-A340035C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waga efektywna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1D7E6-7BF5-4347-9C31-2D5AD448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720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Forward używa W′; optimizer aktualizuje tylko macierze adaptera.</a:t>
            </a:r>
          </a:p>
        </p:txBody>
      </p:sp>
    </p:spTree>
    <p:extLst>
      <p:ext uri="{BB962C8B-B14F-4D97-AF65-F5344CB8AC3E}">
        <p14:creationId xmlns:p14="http://schemas.microsoft.com/office/powerpoint/2010/main" val="8067946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0C035-4EA8-4E9D-A9A9-F6C619F8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93645A-F2B4-4FE1-916D-88C7C05A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D5DAD-484A-4A6C-90F0-D805EC89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0287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16: około 1,48% trenowanych parametrów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61441-0D39-4CD5-8427-90258054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857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238C9-199F-44C7-B0A9-0EACC729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942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W naszym Q1: 33 030 144 parametrów adaptera wobec modelu 4B widocznego przez pipeline.</a:t>
            </a:r>
          </a:p>
        </p:txBody>
      </p:sp>
    </p:spTree>
    <p:extLst>
      <p:ext uri="{BB962C8B-B14F-4D97-AF65-F5344CB8AC3E}">
        <p14:creationId xmlns:p14="http://schemas.microsoft.com/office/powerpoint/2010/main" val="15050059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54010-9F68-4FA0-AA64-C64C5592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C34D16-2B24-4A07-ADB6-4BA08CFA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EF171D-04F5-4894-BBC1-69FAAAD5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Target modules wyznaczają swobodę adaptera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67DE6B-E9D3-4E39-A9CC-01937DDE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DC6AC-9D24-4C74-95A1-EFD5F5F2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Attention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4BA1F-1502-4DB4-A45D-84EAAA6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q_proj — wybór informacji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k_proj — reprezentacja kluczy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v_proj — treść wartości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o_proj — miks wyjścia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4DB97-2999-4CEA-8667-2F2EAD25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E4489-FC17-46A2-BF05-9222A6D5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MLP / all-linear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0C5D8-10DC-4A23-8CC3-1409F9A3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większa pojemność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więcej parametrów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szersza zmiana zachowania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większy koszt treningu</a:t>
            </a:r>
          </a:p>
        </p:txBody>
      </p:sp>
    </p:spTree>
    <p:extLst>
      <p:ext uri="{BB962C8B-B14F-4D97-AF65-F5344CB8AC3E}">
        <p14:creationId xmlns:p14="http://schemas.microsoft.com/office/powerpoint/2010/main" val="13379264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4E85C7-300F-4B0F-A6F1-644759B5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9CCAF-D2AA-453C-B69B-8930D8FE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E2CAB-C35A-46BF-8863-0DBA9D90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Rank, alpha i dropout działają razem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8F601-E52F-475F-9F75-EF25393C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01FCC1-E148-4868-B9E0-8304F62D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431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Parametr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7FE5E3-6353-4CD5-B03C-81B144A3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8097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CA516-8791-4C66-A834-F1E38C9A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43100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 reguluje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272EEF-3B37-46A4-960A-50EA5F76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09750"/>
            <a:ext cx="5200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65AD0-2C9A-426D-9819-40B80ACA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43100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Typowy błąd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975766-730F-403D-9B4F-BC2FC9AC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A72F33-771C-449F-BDD2-86BE26D0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F4853E-1C5C-4B8D-BDAB-04CF90B9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622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67111-2EE1-4744-A280-A5D68F7C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7650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pojemność aktualizacji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D224B-6CB4-40BE-9CD2-703263E5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62200"/>
            <a:ext cx="52006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557E7-4A87-4F5A-BFD5-C1EE666B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76500"/>
            <a:ext cx="5010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sweep bez danych granicznych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1BB9BF-7DA6-4AA6-9433-6F5C0E23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71800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C1936-6F78-4415-BC2B-950FFFCC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alpha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B5A1E-9868-46F4-B0D8-60CDB36B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718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912E5B-B65B-4E2B-AB0E-8B80E273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8610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skalę ΔW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A6F37B-802F-4AE7-A4AB-19D7972D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71800"/>
            <a:ext cx="52006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09F363-8A6F-4051-89D8-AB8590B6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86100"/>
            <a:ext cx="5010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kopiowanie wartości między modelami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1DA89E-89F7-4602-97D8-6BCD9228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EE49D-5546-43D4-9C9E-B3A1F23A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dropout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F4E297-93A2-4D58-BFAF-5AB81736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814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7876C2-FBF9-4F25-88E5-D883E716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9570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regularizację adaptera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D2DD2E-FF38-4A86-8C35-FC9F0534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52006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7BA4AC-1EC4-43E4-B0AA-B3987466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95700"/>
            <a:ext cx="5010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dodawanie go bez diagnozy overfittingu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8B8445-6EF2-4840-A7F0-B5011737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D3EA9A-2AB5-4478-BB93-EA268BDD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4529E7-D17B-42B8-9D3A-26839FC3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1910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D3ACF1-9E64-4BED-A6A6-CF37BB14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0530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punkt startu adaptera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D69153-B416-4EF5-90ED-478CB0A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91000"/>
            <a:ext cx="52006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43E230-BA7B-4767-A7E9-B896467F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05300"/>
            <a:ext cx="5010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brak testu, czy adapter startuje jako no-op</a:t>
            </a:r>
          </a:p>
        </p:txBody>
      </p:sp>
    </p:spTree>
    <p:extLst>
      <p:ext uri="{BB962C8B-B14F-4D97-AF65-F5344CB8AC3E}">
        <p14:creationId xmlns:p14="http://schemas.microsoft.com/office/powerpoint/2010/main" val="10613072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EC7E53-74FA-47F3-8D83-755A18B2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7BE4F5-007E-4191-AC80-508D977B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E7E51-7C1E-4854-9F02-8252771B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Adapter jest wersjonowanym artefaktem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22" name=""/>
          <p:cNvCxnSpPr/>
          <p:nvPr/>
        </p:nvCxnSpPr>
        <p:spPr>
          <a:xfrm xmlns:a="http://schemas.openxmlformats.org/drawingml/2006/main">
            <a:off x="495300" y="3257550"/>
            <a:ext cx="11144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5A47BC-AE85-4918-9867-61B1BB45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00A12-7CDB-4461-8D15-E2747B8D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0A6B05-4370-4F02-9A54-B10DB636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Trenuj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E46710-A42D-49B7-A877-D2606CA1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Zamrożony base model, jawna konfiguracja i hashe danych.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81FEA-DDB9-4C66-B0DC-5B3DA1BE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9FA2B-4D78-45EB-A9A6-67229A29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54B0D3-92CA-4E11-BC68-7925980A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Reload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F37C66-4229-4FAE-B4D6-D988FBEA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Świeży proces potwierdza zgodność adaptera z modelem.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222BD-A077-4C77-9838-23B4D4FD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143C4-1EF4-4F3B-A4CB-8AA8E2D7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OPERATE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08D010-6E60-4E6F-84E4-733136B3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Serve / merge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E539D9-B203-4469-B3F3-F83DBF14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Przełączaj adaptery lub scalaj po bezpiecznym teście.</a:t>
            </a:r>
          </a:p>
        </p:txBody>
      </p:sp>
    </p:spTree>
    <p:extLst>
      <p:ext uri="{BB962C8B-B14F-4D97-AF65-F5344CB8AC3E}">
        <p14:creationId xmlns:p14="http://schemas.microsoft.com/office/powerpoint/2010/main" val="1020364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458C74-EC22-4FF6-B1B0-8793DDBD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470ADC-8EFD-48AE-852A-910C0C6E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41A854-D261-4B52-9B37-7BA10269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Alternatywy mają sens przy konkretnym ograniczeniu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7BB33-5ED5-4BD5-920F-70C275BE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180C4-B8AC-4C56-947B-8E819F9F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431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Metoda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64A8F1-152F-4D98-89E9-CAA5CE89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8097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29E93-A5F6-470A-B324-FFD2B173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9431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Mechanizm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0F49A-8F87-4F5A-81A5-2B787902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09750"/>
            <a:ext cx="5391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40022D-166C-4A9B-BABD-378E4713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520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Rozważ, gdy…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857D78-2DD9-4D61-AFD7-CAF0C663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C744A-DEB1-4E61-A6D0-5358D912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rsLoRA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175606-9045-41C1-8B1E-C86E1900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62200"/>
            <a:ext cx="4000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A08903-5BF1-4DC4-A808-D7DAAFF7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skalowanie α/√r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C53A65-125D-4BD6-BC48-FE2C298A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62200"/>
            <a:ext cx="5391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15AA80-75F5-4E6A-B9D0-8A26F8E0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520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wyższy rank jest niestabilny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DE325B-4E9A-44C8-B79B-7C3B097B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7180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A9A98-434A-4C3B-BB1C-CA6AA015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C56D5E-A5F8-4092-90F6-C901BB2F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971800"/>
            <a:ext cx="4000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B1286C-6F3F-47C5-A00F-498F5F6B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861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osobno kierunek i magnituda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A7C926-63A3-4F4A-BA32-CE5069F9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5391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6F0253-DA64-459C-9935-49ED3CD5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86100"/>
            <a:ext cx="520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LoRA zostawia lukę jakości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033349-BB14-4D9B-913E-17FF003F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CF305D-625D-4FD4-99BC-8BD9AA86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AdaLoRA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F46CA0-C34E-4C98-950C-A33E5F87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581400"/>
            <a:ext cx="4000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3E90C4-31BA-4FDB-8F8C-499A564D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6957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alokacja ranku w czasie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A4F718-887A-4AEE-B9F4-A6430386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391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F7A3FD-75A7-45B9-8E62-02DC074A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95700"/>
            <a:ext cx="520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budżet ranku ma być adaptacyjny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676906-CF25-4277-BE4B-65AF23F7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1C3FF3-C4E4-498F-87DE-5D93C8E8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IA3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6221EE-C771-4D97-A9DF-16C08BAB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91000"/>
            <a:ext cx="4000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ECA778-74CE-40EF-9E06-BEC6601B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053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wektory skalujące aktywacje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819D24-7070-435E-B74E-62D90ACD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91000"/>
            <a:ext cx="5391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BD92B1-7C83-4C5B-9BB3-75719888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305300"/>
            <a:ext cx="520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potrzebny jest bardzo mały adapter</a:t>
            </a:r>
          </a:p>
        </p:txBody>
      </p:sp>
    </p:spTree>
    <p:extLst>
      <p:ext uri="{BB962C8B-B14F-4D97-AF65-F5344CB8AC3E}">
        <p14:creationId xmlns:p14="http://schemas.microsoft.com/office/powerpoint/2010/main" val="58664364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FC404E-DC95-4A9A-B7ED-16D7C301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264A8-BBB7-440C-83E3-A478E736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LORA • CHECKPOINT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BF6C9-E0A0-4293-BB0D-9CDC1F51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FEDA4C-8C19-42DB-8143-6AD216CB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Pięć pytań przed treningiem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1617B-9C1C-42A4-BF5C-E398E1DD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107442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2B6ED9-5E5C-4AC4-BDB0-2DFF4981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0096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Jaki błąd ma zniknąć?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Które dane są goldem?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Jak chronimy split?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Co pozostaje deterministyczne?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Jaka bramka zatrzyma eksperyment?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97AE0-66A8-439E-9719-CE6DBDDA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Jeżeli brakuje jednej odpowiedzi, trening jest przedwczesny</a:t>
            </a:r>
          </a:p>
        </p:txBody>
      </p:sp>
    </p:spTree>
    <p:extLst>
      <p:ext uri="{BB962C8B-B14F-4D97-AF65-F5344CB8AC3E}">
        <p14:creationId xmlns:p14="http://schemas.microsoft.com/office/powerpoint/2010/main" val="74633960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512D1D-3E2E-4522-9AA3-2683BCF4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QLORA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97E1AA-9559-48E1-9AD1-02701F5B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91C73-D0A9-47F8-BEE0-AAEFD695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QLoRA: 4-bitowy base, gradient do adaptera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0FB55-8DD2-4B36-85F8-F90DE6E8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2E6C0-8C27-429A-83C8-77D87BAD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D16987-7927-4599-96B0-CB6E8671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4D5C6-0EBA-4377-B2EE-95889EC2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88D8AC-8097-4216-BD8D-84C550C0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STORAGE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A7410-DC51-464D-94EB-C9A6991D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NF4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4165E-2A91-4396-BA77-6AB2F2AC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zamrożone wagi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974E20-CBEF-40FF-807E-AFB570D2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89AF3F-A4F2-416B-A9A2-28072066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COMPUTE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B69006-7242-471D-A90E-8E6887EB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BF16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200F32-4634-4C97-8815-0A2BDFFC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operacje forward/backward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D81863-5CDF-4814-AD9A-6F0F6E3E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DD614F-2BB4-493A-B3C4-6D0603CC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F26B18-D0B4-4706-9EDC-7CE6838F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6AF9F-C220-4026-8B05-5CE483C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A i B z gradientem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08EF90-B741-4F11-942A-328DC15B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8CD6D4-01B2-4B2E-8119-EFEB8D01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SAVE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C28CB0-19AA-4345-987D-B6D75B20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Adapter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B014A4-11EF-42C3-8CD8-41CA011B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mały artefakt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328203-BD2A-4856-92F6-ABF9856E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720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Kwantyzacja zmniejsza pamięć wag bazowych; nie zamienia całego treningu w int4.</a:t>
            </a:r>
          </a:p>
        </p:txBody>
      </p:sp>
    </p:spTree>
    <p:extLst>
      <p:ext uri="{BB962C8B-B14F-4D97-AF65-F5344CB8AC3E}">
        <p14:creationId xmlns:p14="http://schemas.microsoft.com/office/powerpoint/2010/main" val="5414098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C330C6-74AC-454C-A413-8D3B1C03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QLORA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AA804-172F-4FD3-A95B-837E76E0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F7346A-5D3F-4101-86F7-B2441D01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Pamięć GPU ma kilka właścicieli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4EFC3-B7E8-4886-B8AC-6FF321D0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366461-D19D-4E38-9565-38FDC3FB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WAGI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74971-5023-4FF5-8AEC-E04D8C04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+ LoRA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FC8C0-4BB7-4432-AA57-E60679E4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NF4 redukuje największy statyczny składnik.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59D161-3CC1-42B2-AC31-8093C14E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C74C49-2FB2-4A32-ADAF-D78D0478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TRENING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DA7EBD-0577-4D6D-95CF-F3F51541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Gradienty + optimizer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5D6700-4D33-437D-84E1-0321B175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Dotyczą parametrów adaptera, ale nadal rosną z rankiem.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65E0D-225F-4692-8B41-0471C380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FEE59B-746A-498D-B854-04679957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DYNAMIKA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5B3E-3CEB-4154-BCA5-FED9F14F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Aktywacje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9799A5-A5FA-4605-A62B-AC83A9F1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Rosną z batch size i długością sekwencji.</a:t>
            </a:r>
          </a:p>
        </p:txBody>
      </p:sp>
    </p:spTree>
    <p:extLst>
      <p:ext uri="{BB962C8B-B14F-4D97-AF65-F5344CB8AC3E}">
        <p14:creationId xmlns:p14="http://schemas.microsoft.com/office/powerpoint/2010/main" val="152727646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BAC5E0-164A-4E30-B9DB-AC05679C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QLORA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6500EF-0A78-48F6-AA32-610302DA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853B98-B628-491E-9E82-D8B48CD3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NF4 kompresuje bazowe wagi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2A8D6-6EEC-478F-931D-16772B77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7849FB-0BFD-4AAC-9678-1859677A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 daje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83D5D-7093-4EAF-B98A-A32A0367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4-bitowe przechowywanie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mniejszy footprint base modelu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gradient przez dekwantyzację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praktyczny trening większego modelu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D1794-D395-4A4A-A744-B91BF0DE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BB6A9-1846-4FA5-9DAF-24E8928E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Czego nie daje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C4C2E1-1307-4A95-9705-5483AD3F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gwarancji jakości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4-bitowych aktywacji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zerowego kosztu optimizerów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odporności na złe dane</a:t>
            </a:r>
          </a:p>
        </p:txBody>
      </p:sp>
    </p:spTree>
    <p:extLst>
      <p:ext uri="{BB962C8B-B14F-4D97-AF65-F5344CB8AC3E}">
        <p14:creationId xmlns:p14="http://schemas.microsoft.com/office/powerpoint/2010/main" val="86058459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C252B9-5FE1-47D6-BEA2-C5CCF52D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QLORA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4A3F2C-4141-4526-A6E6-4B6D1989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C4991-E0D9-49E3-8BCA-45D4B8A1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Double quant i paged optimizer mają różne role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9A36B-01F5-4AD5-93D2-A2FA06CC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88098D-9AC0-46A5-864F-53501D0B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Double quantization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27856-5DA7-42DD-B464-2B94F482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kwantyzuje stałe kwantyzacji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oszczędza dodatkową pamięć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dotyczy reprezentacji wag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965FC2-60C2-4C5D-8B25-55A45BF9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EC797-9CEE-4F20-B8A9-9A432268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Paged optimizer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25EAE-6FC9-40C8-8054-D3F15B23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zarządza skokami pamięci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chroni przed chwilowym OOM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dotyczy stanu treningu</a:t>
            </a:r>
          </a:p>
        </p:txBody>
      </p:sp>
    </p:spTree>
    <p:extLst>
      <p:ext uri="{BB962C8B-B14F-4D97-AF65-F5344CB8AC3E}">
        <p14:creationId xmlns:p14="http://schemas.microsoft.com/office/powerpoint/2010/main" val="106394282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C783B8-837A-438E-AE04-D34278A9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QLORA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B119A-2DD5-4BA3-8A32-A196C7C6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DA293-B563-4BB4-921E-F25D1271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0287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Storage dtype ≠ compute dtype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519A49-619D-428F-A8AF-46646494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857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7F44F-3A01-465B-BAC7-C04E7640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942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W naszym eksperymencie: NF4 do przechowywania, BF16 do obliczeń, adapter jako trenowany parametr.</a:t>
            </a:r>
          </a:p>
        </p:txBody>
      </p:sp>
    </p:spTree>
    <p:extLst>
      <p:ext uri="{BB962C8B-B14F-4D97-AF65-F5344CB8AC3E}">
        <p14:creationId xmlns:p14="http://schemas.microsoft.com/office/powerpoint/2010/main" val="5678818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F1992B-BEAC-49EF-96DC-3A062E82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QLORA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70D23-1A59-4CCE-838F-CD99314A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929BC-B595-48DE-8FF5-839EA442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Referencyjna konfiguracja mieści 4B w 7,55 GiB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F6C96-AEFC-4030-8CDB-9E844D61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33550"/>
            <a:ext cx="706755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7F4241-6809-443C-B904-43CFA2C2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572250" cy="3638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BitsAndBytesConfig(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  load_in_4bit=True,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  bnb_4bit_quant_type="nf4",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  bnb_4bit_use_double_quant=True,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  bnb_4bit_compute_dtype=torch.bfloat16,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LoraConfig(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  r=16, lora_alpha=32,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  target_modules="all-linear",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  bias="none",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2D14C2-2A33-42E5-9E28-88CAA855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431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Q1 — pełny bieg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273EC-0B3A-4ACD-976E-EEF11C03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86050"/>
            <a:ext cx="3524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640 przykładów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240 kroków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88 min 22 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7,55 GiB peak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0 truncation</a:t>
            </a:r>
          </a:p>
        </p:txBody>
      </p:sp>
    </p:spTree>
    <p:extLst>
      <p:ext uri="{BB962C8B-B14F-4D97-AF65-F5344CB8AC3E}">
        <p14:creationId xmlns:p14="http://schemas.microsoft.com/office/powerpoint/2010/main" val="60784933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B47BC9-38B3-40AC-908C-4720F80A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QLORA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8F689E-B0A7-4B6B-A6A0-4920B969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2E9A9-0C8B-4F44-B39E-34A8000C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Metodę wybieramy według ograniczenia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3D4E25-EE77-4E91-9534-038015F2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71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BD92CE-6093-4D4A-9EB3-08FCCC77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4310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Warunek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7FE88-E834-40CA-8B08-CEF049DD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097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BDFCC2-0C3D-440E-B128-8C601A19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943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Najpierw rozważ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18B216-DE2F-49FA-AFC8-9CFD93E2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09750"/>
            <a:ext cx="5010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181BA4-4E6E-415F-86BB-97C028D3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43100"/>
            <a:ext cx="481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Dlaczego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44FEC-6E31-4D96-9181-34175224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371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B6FC17-99A4-475F-A79D-0C3A1D0F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 mieści się wygodnie w BF16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656D0-3EC9-441A-BB18-FE778029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622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0CE14B-3180-4C1B-A7F5-E3CF3488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4765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E2B8F7-58F1-478A-9CE8-3CDF8F4E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62200"/>
            <a:ext cx="5010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0E3B07-42D1-4532-A4E6-97D7B6E0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76500"/>
            <a:ext cx="4819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prostszy pipeline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88FDB2-8ADD-4E11-86BD-278E35AA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71800"/>
            <a:ext cx="371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F6976-4F1B-4267-A7EA-6E7F9C21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model nie mieści się w pamięci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0CC2DC-188A-44CC-B546-85B00D2C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718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C238B8-9C07-4C8A-8841-E5E9C53D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861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QLoRA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8DFF3-D997-4F1D-872F-47E65B2D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71800"/>
            <a:ext cx="5010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ED3702-5B7A-44AC-8AD1-1C0F3460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86100"/>
            <a:ext cx="4819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4-bitowe wagi bazowe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BEB084-0CBF-4E42-B695-69C7E2C7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371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532C85-31E0-4200-9734-015F67D7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Potrzebna jest głęboka zmiana wiedzy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C8627A-A39B-44D0-A924-69207D25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67A51F-E08D-4FDF-80D3-0DEAC9AA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957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Full FT / CPT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03F100-F78D-438D-BB96-AA13A386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81400"/>
            <a:ext cx="5010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B3184C-845D-4F30-A072-CBD031B2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95700"/>
            <a:ext cx="4819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większa swoboda aktualizacji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846B76-2AB9-45C4-AAB6-8047C74D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371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5C4C44-8B9E-4261-AABD-ED1FC936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Reguła jest jednoznaczna i policzalna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DA0BA9-0B57-4F01-8CD7-3D685C3F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1910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96D394-8870-4BC1-8293-0ED4E0D3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053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Kod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955F91-B90C-44DB-BAC8-5757A68B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91000"/>
            <a:ext cx="5010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C0D43C-DF36-452D-8174-F4FCA997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05300"/>
            <a:ext cx="4819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deterministyczna gwarancja</a:t>
            </a:r>
          </a:p>
        </p:txBody>
      </p:sp>
    </p:spTree>
    <p:extLst>
      <p:ext uri="{BB962C8B-B14F-4D97-AF65-F5344CB8AC3E}">
        <p14:creationId xmlns:p14="http://schemas.microsoft.com/office/powerpoint/2010/main" val="138162731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BD444-21F5-4017-A2B5-A89B1932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PRZERWA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D017BF-1445-4C88-9D18-D43B4C89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88FEF5-2C31-41B5-8594-49920331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0287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 minut przerwy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8FF3B-2526-4ADF-8401-027F965A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857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10F991-26C4-4065-8DD8-B93810AB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942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Po powrocie: dane, trening, benchmark i decyzja FC-209.</a:t>
            </a:r>
          </a:p>
        </p:txBody>
      </p:sp>
    </p:spTree>
    <p:extLst>
      <p:ext uri="{BB962C8B-B14F-4D97-AF65-F5344CB8AC3E}">
        <p14:creationId xmlns:p14="http://schemas.microsoft.com/office/powerpoint/2010/main" val="196904704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2E1B54-2A76-4353-8200-0284578D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DANE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16BD03-8958-4F68-9D30-56118A4A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E617A0-A565-4B10-BC78-EFBF5D97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LLM jest jedną warstwą systemu bankowego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7325E-2EE9-4175-BCB3-9087B3D0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A04C41-95EA-490A-8127-888E87EF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BA1ECE-7B54-44B0-990C-8985D931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B9B4E-E253-4A3F-A583-647D06BC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A497F9-EC4A-44A5-9CCE-CD515997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FAKTY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FD5B44-ED08-4883-93AC-5E9A25C0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F2D16C-DF82-4BFC-9841-D5DB13EB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procedury i źródła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E40588-3971-4D35-BD8B-362AFDB6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FBCA69-47C4-4BB9-9B0C-C4A90BC1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LICZBY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4C2FBE-3FC1-4B53-8847-22198A94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1853C8-4BF5-4D24-B8CC-BD9F7B2B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Python / 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4AEC28-3A16-4035-B19E-B857DBE3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366C2A-0B79-4AC8-8DCA-06446F3D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JĘZYK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BFD38-9F00-46B0-8AE9-30DF0C58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LLM + LoRA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869DA1-E7C9-481F-B004-6F66AE9B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status i ustalenie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6F69C9-3A0A-4A89-BC49-9616E6C4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77B76-8B2C-4135-BB69-928F57DE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DECYZJA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7AA5C9-9150-475F-9C66-42EFD4BE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Człowiek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72B34D-D8A5-4B23-A2D7-99E9867B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review i decyzja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58879-9C2F-4965-899E-0F1D44FD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720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Każda warstwa ma odrębny kontrakt, metrykę i właściciela.</a:t>
            </a:r>
          </a:p>
        </p:txBody>
      </p:sp>
    </p:spTree>
    <p:extLst>
      <p:ext uri="{BB962C8B-B14F-4D97-AF65-F5344CB8AC3E}">
        <p14:creationId xmlns:p14="http://schemas.microsoft.com/office/powerpoint/2010/main" val="157148235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B97A61-C5B8-4839-9153-6A21A0FD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DANE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818557-D9A9-412A-8B74-FCC719B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ACC41-48F1-474F-A99F-F279E3CA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Pięć statusów rozdziela różne sytuacje</a:t>
            </a:r>
          </a:p>
        </p:txBody>
      </p:sp>
      <p:cxnSp>
        <p:nvCxnSpPr>
          <p:cNvPr id="4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F0089-F40E-4AAB-9F6A-9B0F9B5D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43395-E74C-4A18-AE85-A6B2497D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431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67BDB1-271A-47D6-BD73-2153AADF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09750"/>
            <a:ext cx="5867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3A28C-DD03-4FED-B49E-D4DF0C46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43100"/>
            <a:ext cx="567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Kiedy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3D4A1A-7EF8-46E3-B8B4-85B3C1B0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097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15C7C9-D718-458F-A631-36EC38B6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943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Human 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CB319B-92C5-45D8-8C1C-0D5AE693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458919-B4DE-4094-BC59-1664715D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5FA1A7-1CE6-4581-86C4-EB6186C5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62200"/>
            <a:ext cx="5867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AF2A21-E49C-447D-A1F1-76B6C661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476500"/>
            <a:ext cx="567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kompletny materiał, wymóg spełniony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826F76-F625-4944-9B2A-9EC84995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622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CFD2D7-007E-4F82-AF26-44A3D5E6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765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nie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F46BA0-D246-4DF7-B698-CFD3E20D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7180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D05A0-BFF1-4EF2-AFDE-C6102563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WARN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6A6A83-3C09-43B6-B9F3-76DEAC59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71800"/>
            <a:ext cx="5867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3E1B82-7DAB-4EFA-9DD0-DBFC016B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86100"/>
            <a:ext cx="567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konkretna częściowa lub niematerialna wada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D3D72-BC27-4EFA-A423-C961B553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718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D77C43-480D-47EE-887A-86248FCA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861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A5889A-8656-43FE-92BF-1528CB37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6358F5-3593-4D6E-8F17-750A4B3B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BB3013-BF5F-457F-A621-7DCD2CA0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581400"/>
            <a:ext cx="5867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B04CB5-F4DD-49F9-B17F-27A27A4B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95700"/>
            <a:ext cx="567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potwierdzone materialne naruszenie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1017DD-DD42-4BF9-9659-41F31798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814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BE3119-CC35-4054-915E-8BD78848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957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323332-51E9-4B30-A9A4-B63E8F1A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F62E24-E814-4DC2-AE66-83760CD3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INSUFFICIENT_DATA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B1A142-082D-442B-A6C6-1B993E17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91000"/>
            <a:ext cx="5867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FF4C2A-D38D-438D-A1A5-00A673A0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305300"/>
            <a:ext cx="567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kontrola ma zastosowanie, brakuje dowodu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E81F75-0279-491B-9A61-7AF10538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910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3D648C-316D-477F-804B-0E478BF2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3053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9A0246-47C4-49A7-8E64-22206CA9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B4AEEBF-5FD5-418A-A553-7814817A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149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NOT_APPLICABLE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9C5EB1-BB5A-4D1F-9894-CA1F0E11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00600"/>
            <a:ext cx="5867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DA3837-B599-4D52-A18B-DE0ACB19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914900"/>
            <a:ext cx="567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brak triggera lub obiekt poza zakresem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B33A4D5-3B5A-48A9-A239-DF76A7B4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006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5DE0E6-0CB8-48D8-8179-104A5469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9149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nie</a:t>
            </a:r>
          </a:p>
        </p:txBody>
      </p:sp>
    </p:spTree>
    <p:extLst>
      <p:ext uri="{BB962C8B-B14F-4D97-AF65-F5344CB8AC3E}">
        <p14:creationId xmlns:p14="http://schemas.microsoft.com/office/powerpoint/2010/main" val="66452150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1D1C5-F97E-482D-82E8-2FF38386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DANE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B5A3B0-132A-4E80-AFCB-55FE81D4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D90BCF-391F-46DD-A580-E1AA93D4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Losowy split rekordów może przeciekać semantykę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B70CF-B5AD-4780-8705-23B50B30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C5399-2F56-462E-81B4-08A41BB4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Leakage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6752DD-6D3D-4072-A94C-68DB178F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parafrazy po obu stronach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ta sama tabela w train i val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mutacje tego samego błędu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zawyżona pewność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84598-4920-48B0-94B0-1F2F26E7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924AE-FFB7-4F43-BB3D-188DF624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Group split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E72180-B32E-4949-AFC5-2466FF7E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rodzina w jednym splicie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nowe wartości i sformułowania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jawna provenance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chronione testy</a:t>
            </a:r>
          </a:p>
        </p:txBody>
      </p:sp>
    </p:spTree>
    <p:extLst>
      <p:ext uri="{BB962C8B-B14F-4D97-AF65-F5344CB8AC3E}">
        <p14:creationId xmlns:p14="http://schemas.microsoft.com/office/powerpoint/2010/main" val="124532387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F44B5F-3555-4569-A0C1-F5295F7E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DANE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83E40-5D8D-4C8E-8A16-DD6EDE45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D68AD5-520D-40C0-8B0D-DE10E4F2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Jedna przesłanka powinna zmieniać jedną decyzję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22" name=""/>
          <p:cNvCxnSpPr/>
          <p:nvPr/>
        </p:nvCxnSpPr>
        <p:spPr>
          <a:xfrm xmlns:a="http://schemas.openxmlformats.org/drawingml/2006/main">
            <a:off x="495300" y="3257550"/>
            <a:ext cx="11144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4795B6-8DE0-4946-BEA8-FDAAB246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AABCA-F6F0-476E-B600-953501E6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F5A90E-77BC-44E6-A820-B1CD9DFE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0,4 mln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F7B8B-6174-41D7-BD38-4F061166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Różnica mieści się w tolerancji zaokrąglenia.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C68879-5E5A-4905-B324-96F66246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E2B771-48D5-45EF-B707-B60C3FE5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WARN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99176A-C3C8-4F1F-ABA6-E922632E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1,4 mln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7CDCC-AF76-4337-A022-E591CAE6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Wada istnieje, ale pozostaje niematerialna.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4DDF2E-A5ED-4878-A799-A477F335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FCC941-2E55-4124-9DA8-430DC861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4B481B-30B1-4F99-97CC-E5200AA8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24 mln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1EEE62-85AE-49AA-AF38-1BFCFDCB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Przekroczony jawny próg materialności.</a:t>
            </a:r>
          </a:p>
        </p:txBody>
      </p:sp>
    </p:spTree>
    <p:extLst>
      <p:ext uri="{BB962C8B-B14F-4D97-AF65-F5344CB8AC3E}">
        <p14:creationId xmlns:p14="http://schemas.microsoft.com/office/powerpoint/2010/main" val="23208595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E682E-7845-4EE4-8393-89B20593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DANE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66FD66-616A-4FAE-91F7-11855651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BDFAB-E9DE-4099-B89E-34DCD12F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Dobry JSON nie oznacza dobrej decyzji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00050" y="173355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45ae34e1544f59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6C3BB7-6867-4BEE-BBA1-0B8127AF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52600"/>
            <a:ext cx="405765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FD455-B523-4C48-8B31-DBE44659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76450"/>
            <a:ext cx="352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Baseline 0.6B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589C0D-2DE0-4BBE-871B-45E7C82E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52750"/>
            <a:ext cx="34671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format poprawił się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status pozostał słaby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bias do PASS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metryki muszą być osobne</a:t>
            </a:r>
          </a:p>
        </p:txBody>
      </p:sp>
    </p:spTree>
    <p:extLst>
      <p:ext uri="{BB962C8B-B14F-4D97-AF65-F5344CB8AC3E}">
        <p14:creationId xmlns:p14="http://schemas.microsoft.com/office/powerpoint/2010/main" val="10783091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6135F0-6EA6-4234-A007-463D021E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DANE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C329BD-27EF-4518-8D4D-B21ED510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06166-BDF1-4C73-959E-EF3ADE4D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Q0 vs Q1 izoluje wartość boundary data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A1BD8F-DADB-41A0-9480-59FABB11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DDD03E-A386-4242-8E3B-7CC0625E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6EC5A-E3B1-40C1-9E0E-BC46A5D8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400 standardowych przypadków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ten sam model i prompt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rank 16 / alpha 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bez boundary train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06EBB-EB09-41EB-BEF4-8D6FA66E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4F4A4-FA35-4A04-A98E-2DF44B13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A17568-88A6-4DFB-B2C2-5983F4E1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400 standardowych + 240 boundary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pozostałe warunki zamrożone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różnica mierzy dane graniczne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brak selekcji najlepszego seeda</a:t>
            </a:r>
          </a:p>
        </p:txBody>
      </p:sp>
    </p:spTree>
    <p:extLst>
      <p:ext uri="{BB962C8B-B14F-4D97-AF65-F5344CB8AC3E}">
        <p14:creationId xmlns:p14="http://schemas.microsoft.com/office/powerpoint/2010/main" val="93759448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652EF5-EC12-4C05-9D9F-0115689D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A5D6F-2A0D-4CF9-9399-7C048F31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DANE • WARSZTAT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7B287-6F75-41CC-9137-C3007725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0A5CDA-E926-4CBC-B1E6-295DAB07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Znajdź przesłankę, która zmienia status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FE2200-A791-4A5C-844D-ACF6B3DC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107442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21636-A123-48E9-81E5-AA983546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0096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PASS → WARN: tolerancja przekroczona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WARN → FAIL: materialność przekroczona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N/A → brak danych: trigger pojawia się, lecz brakuje źródła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3991AE-C56B-4F41-A0BA-D5CF3727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Najpierw wskaż przesłankę, dopiero potem etykietę</a:t>
            </a:r>
          </a:p>
        </p:txBody>
      </p:sp>
    </p:spTree>
    <p:extLst>
      <p:ext uri="{BB962C8B-B14F-4D97-AF65-F5344CB8AC3E}">
        <p14:creationId xmlns:p14="http://schemas.microsoft.com/office/powerpoint/2010/main" val="167088937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EDE8D4-BCC5-4C6E-8BE5-15FB5CB1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5DEA07-5F34-4C24-A34B-1DDBA9F6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112DD8-784B-4928-ACF8-5655F7DF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Demo pokazuje pipeline, nie dowód jakości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22" name=""/>
          <p:cNvCxnSpPr/>
          <p:nvPr/>
        </p:nvCxnSpPr>
        <p:spPr>
          <a:xfrm xmlns:a="http://schemas.openxmlformats.org/drawingml/2006/main">
            <a:off x="495300" y="3257550"/>
            <a:ext cx="11144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52ADB3-EDDC-40DE-AAE6-60D0295F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DD0F4B-F58B-4E47-9B64-AFB482DC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E3D44-A3F3-4503-8369-8D80918F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12 kroków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5A4D62-EA9D-462A-9595-804E60EB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50 zbalansowanych przykładów i realny update adaptera.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80CFF-CC53-41CB-A0D1-9166B88B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A31CA-5A20-4B52-8FE1-1A193A6C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49022-F0FA-4243-95C9-20FA38E6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Artefakt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27AF8C-356B-471A-9C05-9D958422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Manifest, rozmiar, hashe i zero truncation.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08B02-9EF1-40B5-90B9-6883DF51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9A49EE-D835-4469-85CB-4F57B34F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8EE1F9-2913-470E-84BD-B6654431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Świeży proces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547AB6-8C2E-46BD-A848-52CE909A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Jedna inferencja potwierdza używalność adaptera.</a:t>
            </a:r>
          </a:p>
        </p:txBody>
      </p:sp>
    </p:spTree>
    <p:extLst>
      <p:ext uri="{BB962C8B-B14F-4D97-AF65-F5344CB8AC3E}">
        <p14:creationId xmlns:p14="http://schemas.microsoft.com/office/powerpoint/2010/main" val="89466694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3BAD2-0A31-42D0-881E-06FDBABF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4E73B-30DA-4C18-9E06-196B6985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DB614B-6DB6-4215-A35E-54D7886C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Trening obserwujemy w trzech warstwach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3B47E-6D5C-43DD-BF41-0C29E12B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D885B-BDCE-453F-BA8F-E1048A51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UCZENIE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73227-9FE1-4F80-A0A9-C5D422B0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Loss + gradient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0F0BD-3572-4FF8-8495-07A2BCD0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Czy model faktycznie uczy się i czy gradient jest stabilny?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0B5C8-BCFE-4FE6-8A11-B7D9AA8A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324FEC-BE6F-459D-8A32-162AD034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ZASOBY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A50B03-8BFC-4CB4-AC79-75C09B82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VRAM + czas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01D9FD-2885-42F8-BD3B-3341400D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Czy bieg mieści się w budżecie demonstracji?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5D1199-1909-4C3F-8986-B63F8E7E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062295-E2F9-405C-A011-1A8C5C1A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DANE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EE976D-33C8-45BE-91CF-31B31C9A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Truncation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E96CD0-7570-4B86-8B48-702DCDBB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Czy prompt i gold nie zostały ucięte?</a:t>
            </a:r>
          </a:p>
        </p:txBody>
      </p:sp>
    </p:spTree>
    <p:extLst>
      <p:ext uri="{BB962C8B-B14F-4D97-AF65-F5344CB8AC3E}">
        <p14:creationId xmlns:p14="http://schemas.microsoft.com/office/powerpoint/2010/main" val="77230385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1A885C-62CE-411B-A535-0D5AA38B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A4138-7ACD-4D93-94D6-B5CFAA7C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751C7-C422-4588-A327-E49D2571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Q1 zamraża warunki eksperymentu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181DC5-F258-40B8-9C7D-FCC8426B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33550"/>
            <a:ext cx="706755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927D7-CECD-4488-A0AC-51EF63F7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572250" cy="3638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model: Qwen3-4B-Instruct-2507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quantization: NF4 + double quant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compute: BF16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LoRA: r=16, alpha=32, all-linear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train: 640 cases, 3 epochs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effective batch: 8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max length: 1728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loss: completion-only</a:t>
            </a:r>
          </a:p>
          <a:p xmlns:a="http://schemas.openxmlformats.org/drawingml/2006/main">
            <a:pPr algn="l">
              <a:defRPr sz="1350" b="0">
                <a:solidFill>
                  <a:srgbClr val="E8EEF5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5"/>
                </a:solidFill>
                <a:latin typeface="Consolas"/>
                <a:ea typeface="Consolas"/>
                <a:cs typeface="Consolas"/>
              </a:rPr>
              <a:t>truncation: forbidden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3E19D-E135-4946-A9E3-1E04C15D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431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Dlaczego to ważne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ED5442-0C42-4348-844D-F5B017DE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86050"/>
            <a:ext cx="3524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Q0 i Q1 różnią dane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test pozostaje zamknięty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prompt inferencji ten sam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adapter-only checkpoints</a:t>
            </a:r>
          </a:p>
        </p:txBody>
      </p:sp>
    </p:spTree>
    <p:extLst>
      <p:ext uri="{BB962C8B-B14F-4D97-AF65-F5344CB8AC3E}">
        <p14:creationId xmlns:p14="http://schemas.microsoft.com/office/powerpoint/2010/main" val="94886355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819802-5C94-4224-AD9A-F11B2501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754CB-93EA-4E99-9470-EE804821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886BA-9399-434F-8199-712EC0E9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0287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Adapter Q1 waży 66,1 MB; merged BF16 około 8,06 GB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A05CB7-C5A7-41E5-8641-F8EBF60D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857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4261BF-8A9D-4F72-9B0E-8879B20E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942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Mały artefakt upraszcza wersjonowanie, ale zawsze wymaga zgodnej rewizji modelu bazowego.</a:t>
            </a:r>
          </a:p>
        </p:txBody>
      </p:sp>
    </p:spTree>
    <p:extLst>
      <p:ext uri="{BB962C8B-B14F-4D97-AF65-F5344CB8AC3E}">
        <p14:creationId xmlns:p14="http://schemas.microsoft.com/office/powerpoint/2010/main" val="9067292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3DF377-6921-47FD-AA89-34E7235F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F1E792-135C-4857-987C-877D8B74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B932D-15F1-4219-8E8C-916B9401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Reload jest testem; merge jest decyzją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D0E0FB-7313-47E0-9B27-CE5A7C54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18239-D59D-429E-B967-5BAAAC5E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Adapter osobno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B5416-81D1-412A-98CD-6E9D6FB9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łatwe przełączanie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mały artefakt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jawna zależność od base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więcej elementów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8EF3E-41BF-4211-BAB9-30C18F58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2CA11C-D616-4BB9-9A8F-20CA37BA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 merged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613042-C955-4BE5-8591-61D037DB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prostszy serving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duży artefakt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trudniejszy rollback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wymagany safe merge + reload</a:t>
            </a:r>
          </a:p>
        </p:txBody>
      </p:sp>
    </p:spTree>
    <p:extLst>
      <p:ext uri="{BB962C8B-B14F-4D97-AF65-F5344CB8AC3E}">
        <p14:creationId xmlns:p14="http://schemas.microsoft.com/office/powerpoint/2010/main" val="156126711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29ABC9-5F61-40BF-B408-A3704284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591EC8-A606-4D0A-83F5-01FF0A6F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1E267-30AF-4360-B59E-D19D06DD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Checkpoint może zawieść przy zapisie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11532-158D-4A23-87C8-80682324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74872-2A11-4B23-B88A-D9461F47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Incydent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95895-B7DA-4ACF-B7CF-501D697B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Windows + paged_adamw_8bit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błąd serializacji stanu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pierwszy Q0 odrzucony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brak wejścia do M3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5E015-23D4-4865-8DF7-5AE8D737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53910-FF02-4619-BA17-20B834E5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Kontrola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8F1A8-8B41-4D0A-85FD-5269FA51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save_only_model=true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bieg od początku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manifest incydentu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jawny brak resume optimizera</a:t>
            </a:r>
          </a:p>
        </p:txBody>
      </p:sp>
    </p:spTree>
    <p:extLst>
      <p:ext uri="{BB962C8B-B14F-4D97-AF65-F5344CB8AC3E}">
        <p14:creationId xmlns:p14="http://schemas.microsoft.com/office/powerpoint/2010/main" val="56463989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62612F-B4A8-49DD-B5EA-E5A5AF49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D82ED-2E55-4C28-8C88-237BB17D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E7916-F008-4A70-BA68-9FC61652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B chroni tempo warsztatu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22" name=""/>
          <p:cNvCxnSpPr/>
          <p:nvPr/>
        </p:nvCxnSpPr>
        <p:spPr>
          <a:xfrm xmlns:a="http://schemas.openxmlformats.org/drawingml/2006/main">
            <a:off x="495300" y="3257550"/>
            <a:ext cx="11144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1E0E0-0B6D-48E8-AD8E-B5ABECF3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CC8FD2-43F9-4B68-937F-83C7BA39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0–5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63B2A6-A7E8-4AA0-9F8E-832A0746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Uruchom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53B369-1362-4595-8C98-9E72AAEC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Pokaż realny proces i pierwsze metryki.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0ACBDA-FA28-481C-B82F-92709095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C75F4E-ADBB-4918-BB16-A8DB18EA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≤15 min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F183D-A701-471D-8013-9D22098A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A3946-F79B-4F06-ADD2-48B42D44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Nie pozwól, aby trening zdominował szkolenie.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CCB8B-E0D8-4F8A-A1CC-4AECE78B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A3093A-8CAE-4ECA-B0D0-0731F136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7DC795-7A6B-44E1-8085-739C30F9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Przełącz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ABE612-D79E-4C2D-9AF2-7232B81F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Zapisany log + referencyjny adapter + reload.</a:t>
            </a:r>
          </a:p>
        </p:txBody>
      </p:sp>
    </p:spTree>
    <p:extLst>
      <p:ext uri="{BB962C8B-B14F-4D97-AF65-F5344CB8AC3E}">
        <p14:creationId xmlns:p14="http://schemas.microsoft.com/office/powerpoint/2010/main" val="15225905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D13136-F07F-4F2C-92E1-2263A525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2E478C-7E69-4227-B650-A7C678DF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DEECF8-32B9-4838-B6A5-CBCA47DC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Jedna metryka ukrywa koszt błędów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DB836-59BA-4EC1-8E69-D0DBC53A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48E34-77D7-49EC-B84F-8C783E70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JAKOŚĆ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7239C-6BA9-4D69-8AF7-BDB3F393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Macro-F1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D7645E-6E05-42BA-AABD-3540664B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Równo waży klasy, ale nie zna kosztu biznesowego.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5F7066-E9D5-4AE5-BE1D-4BFA3680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F9B387-BE70-4151-9B1C-D8735FCE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GRANICE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B9944-84AE-4E1B-B305-D83903A8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Pair 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F7E4B5-359C-4A68-9568-9C25E133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Czy model reaguje na jedną zmienioną przesłankę?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BC9CA-D702-4B4C-9C83-633C99F6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EB0F7-81E5-46CD-BA4A-D827AC13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5D5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5D5D"/>
                </a:solidFill>
                <a:latin typeface="Arial"/>
                <a:ea typeface="Arial"/>
                <a:cs typeface="Arial"/>
              </a:rPr>
              <a:t>RYZYKO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BD9E4-1C3A-493C-8C7D-7B66F2EA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Unsafe 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723DAF-233A-42EC-AD94-97449D2D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Czy brak danych lub błąd został zaakceptowany?</a:t>
            </a:r>
          </a:p>
        </p:txBody>
      </p:sp>
    </p:spTree>
    <p:extLst>
      <p:ext uri="{BB962C8B-B14F-4D97-AF65-F5344CB8AC3E}">
        <p14:creationId xmlns:p14="http://schemas.microsoft.com/office/powerpoint/2010/main" val="141503308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835BE9-3B9F-4BB6-936F-1DAB8B53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83656-AE19-48F4-8EC2-F2FF5E16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5C6749-D039-4CF7-BE25-E4FCB100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data zmieniły wynik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00050" y="173355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eea255beae49d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C6B9AF-889F-4DE1-BD9C-E3254CF1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52600"/>
            <a:ext cx="405765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13276-D407-434C-868B-6808D8C0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76450"/>
            <a:ext cx="352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Q1 vs Q0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87D3E-C8BF-49FE-A24A-C058D0C3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52750"/>
            <a:ext cx="34671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+21,4 pp macro-F1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+38,3 pp par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0% unsafe PASS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ten sam model i prompt</a:t>
            </a:r>
          </a:p>
        </p:txBody>
      </p:sp>
    </p:spTree>
    <p:extLst>
      <p:ext uri="{BB962C8B-B14F-4D97-AF65-F5344CB8AC3E}">
        <p14:creationId xmlns:p14="http://schemas.microsoft.com/office/powerpoint/2010/main" val="34769960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56CCD0-73AB-4AF3-9BC5-D7374A90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465FA0-FEDD-46DF-8DC1-4B9D6197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BE20BB-9657-4C16-AF4F-37F4BCB4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Trzy seedy potwierdziły łatwe validation</a:t>
            </a:r>
          </a:p>
        </p:txBody>
      </p:sp>
      <p:cxnSp>
        <p:nvCxnSpPr>
          <p:cNvPr id="49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D171D-C60C-49C2-B14F-DE444976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70094D-E4A8-4EC7-A308-05158F2A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431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1309AA-AF54-4B5E-B43F-4B36FA9B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809750"/>
            <a:ext cx="228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1CB68-E695-4659-83F6-2D59BC13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431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Original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039A9-EBDF-48CC-870E-C0E08F00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09750"/>
            <a:ext cx="228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1D46C5-4E23-47C5-8A4E-874D7975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431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Boundary F1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6CDA07-7442-4F94-8427-63787A1C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09750"/>
            <a:ext cx="228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A91857-76AE-4A53-BF33-0B9C0120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9431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9A1A43-0EE1-4522-86E8-DC444B21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09750"/>
            <a:ext cx="2438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81F142-DAE1-4D04-9E8B-099AC2AB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4310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6D81BD-B53D-42C8-89C0-FA1D7DE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17BFD0-C554-46B0-A211-374A24EA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20260827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1C280-F53A-4F1B-80D6-E46DDAB8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622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D239D5-F70D-4369-8EEB-1002D0BD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765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C2E0BC-1717-420A-A503-1A18C0EB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5FDF3E-4073-426B-8593-A12A86A3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765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D539B0-38C1-4544-B196-57D16101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622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55A42F-1146-4C9B-996E-3578C65D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765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94,0%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BFE123-70E9-4CBE-AA6D-79D418DB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62200"/>
            <a:ext cx="2438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0398C6-C197-4DEB-BBED-400CBAC6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76500"/>
            <a:ext cx="2247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2E731-B984-4C80-A11C-40FE6CA9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71800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9A2B1-496B-418A-96FB-B2B47BC2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20260828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79E01B-13FC-469B-A000-96A780EC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718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0BC000-C7C3-4F6A-875F-CAFD3AAF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861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80AFFE-295E-426C-B036-A8556E24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718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ECB444-96D4-43E3-9E05-AB4851AB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861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643093-4457-4CEA-9155-60BACC6F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9718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20180A-3B27-4F75-9385-E2535DA4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861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94,0%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3817CA-138C-45D8-B993-C3267F38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71800"/>
            <a:ext cx="2438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0CB1B7-C3E1-4BFA-A5A2-7E6E9BF3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99,2%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1D198C-F542-4525-A424-86CC5C06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55E890-EFFF-47AF-B6BC-89426F0D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20260829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3EB933-B8AF-4C63-A758-3736C7FC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814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18BD12-63F3-4B38-A7B6-ABCCB5A9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957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A81F78-8502-4111-A424-B601E790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5814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B15174-C3ED-4C03-AFFD-CB016B41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957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FF876D0-D46D-4E5A-B758-9928E3EB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814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A4F65F-A9E5-489C-87D9-84EAAA04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957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98,0%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DECB23-04D5-4A63-A7F6-880CC75C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81400"/>
            <a:ext cx="2438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5DB95D-2B6B-4167-A975-1CCF9D25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695700"/>
            <a:ext cx="2247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1FE269-2EC5-4247-A648-99DCF288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Perfekcyjny wynik na danych z tych samych rodzin generatora nie jest jeszcze dowodem generalizacji.</a:t>
            </a:r>
          </a:p>
        </p:txBody>
      </p:sp>
    </p:spTree>
    <p:extLst>
      <p:ext uri="{BB962C8B-B14F-4D97-AF65-F5344CB8AC3E}">
        <p14:creationId xmlns:p14="http://schemas.microsoft.com/office/powerpoint/2010/main" val="77155426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D7ECD-BA4C-4C0A-99D7-8E903B19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E5149-B4D1-49B8-83A6-2B8DF14A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67546C-88D8-4BD0-9083-D77F7759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Prompt v2 naprawił kontrakt, nie decyzje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00050" y="173355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8b233edb964c3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9596F9-D049-4862-8F93-949573D3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52600"/>
            <a:ext cx="405765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4BB409-0EE3-481C-A68D-D6258A8A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76450"/>
            <a:ext cx="352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 naprawiono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65823-0D61-4831-BCB6-BB654117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52750"/>
            <a:ext cx="34671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status → severity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human review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source_id 100%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injection suite PASS</a:t>
            </a:r>
          </a:p>
        </p:txBody>
      </p:sp>
    </p:spTree>
    <p:extLst>
      <p:ext uri="{BB962C8B-B14F-4D97-AF65-F5344CB8AC3E}">
        <p14:creationId xmlns:p14="http://schemas.microsoft.com/office/powerpoint/2010/main" val="5118501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3DD0B96-E6BB-42F7-93C8-E87A2C11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AFCFE-4392-4898-9B32-A8F10D51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AB0547-2A75-4A8D-9D68-089705F2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Błędy mają różne przyczyny i różne remedia</a:t>
            </a:r>
          </a:p>
        </p:txBody>
      </p:sp>
      <p:cxnSp>
        <p:nvCxnSpPr>
          <p:cNvPr id="56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6B8DD-2689-425D-A93C-7E1A6301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A5609-A0B7-43DE-AFCE-C88947D4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4310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3B730D-15D7-47B9-8CFB-A8E77C29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C53C7E-BA12-4C7E-815A-4BD84385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431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Błąd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BDE211-7915-4C1E-8244-8D35DE4C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09750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B6FB79-D7CA-4EAF-A177-04A1487D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431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Diagnoza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2CB02B-EF73-4F1A-AEC7-45D7E5FA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09750"/>
            <a:ext cx="3105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CFBD3-7829-4B09-B256-95E27ADB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43100"/>
            <a:ext cx="2914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Warstwa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5BFBAE-2436-4C20-BB37-805D1884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557A1-CBA6-420A-9CB6-83396D6C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123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FC-209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AAD156-64DE-4761-B71E-5560CB88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362200"/>
            <a:ext cx="2571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9526EE-72BD-4DD1-A4E8-5A047FD5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476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3× 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932D8C-CE61-4E19-A1A4-044EEF06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62200"/>
            <a:ext cx="4286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660A1-FC5E-4FF3-87E5-715208CD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7650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odwrócenie 27 &gt; 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5CBB27-6602-40AD-A1BE-73E712F7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62200"/>
            <a:ext cx="3105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7184AC-9ED2-4A83-AD4B-69906DA4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765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deterministic guard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0340BA-3F11-4BF3-8B63-0C0D2901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7180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F94B21-6C7A-43BE-A16E-BA4CBAE6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23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FC-212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185F82-E3B8-4D0B-B37D-74B60A65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2571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F45648-E434-4A74-B98F-D5D46249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0861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1× WARN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EADE07-9090-411E-B663-3BE0061E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71800"/>
            <a:ext cx="4286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128EDA-51C6-4612-9152-D33F0362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8610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pominięty zakres jednostkowy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453C9C-EB02-495B-AD00-8158775F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71800"/>
            <a:ext cx="3105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D7BC7C-9A87-42FB-8B90-8CAA7B4C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861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prompt / dane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D4EF0F-7793-4C99-B786-CC3278BA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C92EB7-EE9D-42FE-92D6-BD581E98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123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FC-215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F9FFA1-FE27-44A1-B41A-3FD0BB79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81400"/>
            <a:ext cx="2571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56507A-5112-48B1-941F-27732633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695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1× WARN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742BBB-4EA0-48D9-805B-DDAD67AA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81400"/>
            <a:ext cx="4286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B89B98-2B04-4A20-982A-0C439E6D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przeoczone jawne wyłączenie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983E8E-D606-4432-8F8C-590AC3E0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81400"/>
            <a:ext cx="3105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5F88F9-885F-464E-9F30-9FE2810A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6957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prompt / review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C5C9CB-2FF5-4082-AC19-2714AFA0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2DBAE6-1BFF-4675-968F-5ED266FF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23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FC-216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8ACAE0-09CD-451D-A929-93AB78D1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91000"/>
            <a:ext cx="2571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139151-2FED-4823-B2EB-66BD89F1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3053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2× WARN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6A424F-3EAC-4725-B50F-598EA8A9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91000"/>
            <a:ext cx="4286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D63C90-BEA4-4540-9EB3-772A976B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30530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brak pliku ≠ częściowa wada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04E2F0-C48D-43AD-9203-AED2F0B9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0"/>
            <a:ext cx="3105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2FF513-8533-47F3-B90C-00EC6D19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3053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data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14F6EE-D9DA-4170-9D6B-1DB1E59E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CA44BB5-BFF5-4F0F-80A0-C929917C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14900"/>
            <a:ext cx="123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FC-226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08043A-B179-4E3D-867A-61E19AE1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2571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AD7EDB-389A-40C5-9C69-573E4BFE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149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2× WARN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A2D818-4832-44DD-8EF5-4A209BBF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800600"/>
            <a:ext cx="4286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5E069B1-8636-4FCE-BD75-D5A6AD8C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91490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dokument poza zakresem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E4B5B5-EAA9-429F-829F-7D0ACA95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800600"/>
            <a:ext cx="3105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4808E34-3886-4A7C-84E6-81D04532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9149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scope policy</a:t>
            </a:r>
          </a:p>
        </p:txBody>
      </p:sp>
    </p:spTree>
    <p:extLst>
      <p:ext uri="{BB962C8B-B14F-4D97-AF65-F5344CB8AC3E}">
        <p14:creationId xmlns:p14="http://schemas.microsoft.com/office/powerpoint/2010/main" val="177735002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9B133-D883-4F34-8E56-C36887B6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45AC6-B8C1-49A3-AEAC-E03367F9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EF27D0-F252-4276-9C1F-2DD24DD3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0287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FC-209: 27 &gt; 5, ale model zwrócił PASS 3/3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5B874-EB7F-4CD3-B775-3A454918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857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693C6-B262-4059-BDD6-B3C9C1F4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942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Obliczenie, JSON i source_id były poprawne. Błędna była decyzja o materialności.</a:t>
            </a:r>
          </a:p>
        </p:txBody>
      </p:sp>
    </p:spTree>
    <p:extLst>
      <p:ext uri="{BB962C8B-B14F-4D97-AF65-F5344CB8AC3E}">
        <p14:creationId xmlns:p14="http://schemas.microsoft.com/office/powerpoint/2010/main" val="145313880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BC5604-DA01-4DA6-8501-9A8F82BD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3CD581-EA5A-4AD9-8374-8D5AD96E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83EBE4-49AC-49A4-A0B0-849D6161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Guard blokuje sprzeczność, nie naprawia odpowiedzi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41522A-CE22-42FC-9C96-91DCACC2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58B839-3C9F-47FC-AF30-53F50F60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A30ED-D925-4083-9185-9B6A9451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43250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E0B70A-5E95-48E0-A332-B15FFADB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1A51C-AEA0-4E18-BFEF-7E711E80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5D5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5D5D"/>
                </a:solidFill>
                <a:latin typeface="Arial"/>
                <a:ea typeface="Arial"/>
                <a:cs typeface="Arial"/>
              </a:rPr>
              <a:t>LLM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B8ADE6-E544-4CC4-B162-272B1796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7CA0F-9502-44C0-923A-20E643F7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calculation=27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112750-CC20-4745-9225-EB8FBF9A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41E9E7-FC8D-4B5B-98DC-1B782C93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9CF353-486F-4F85-8836-77A78A46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27 &gt; 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6F730-4C96-4C8E-9E87-873956B3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wymagany FAIL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A8BD7C-FAE8-4E5B-9E38-A4C57C90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E33879-F39C-4161-B318-8CFE171C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9A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99A24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B7B40B-538C-488B-BEB0-65976B76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598E87-3684-471A-B58C-DB72A8D3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bez silent fix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613610-E25D-4F46-B19D-65FCA30E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81250"/>
            <a:ext cx="22098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681FE0-5DC3-4961-8CB8-5DDEC2BF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OWNER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FED09F-A8A5-40D7-8755-AC9E1590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670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Human review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405013-3BDB-450A-96DC-DBB466F1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8142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decyzja i audyt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B3E48F-39EF-427A-8A22-CD59E207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720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Reguła powstała retrospektywnie: zwiększa bezpieczeństwo demo, ale nie otwiera protected evidence.</a:t>
            </a:r>
          </a:p>
        </p:txBody>
      </p:sp>
    </p:spTree>
    <p:extLst>
      <p:ext uri="{BB962C8B-B14F-4D97-AF65-F5344CB8AC3E}">
        <p14:creationId xmlns:p14="http://schemas.microsoft.com/office/powerpoint/2010/main" val="109087206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006F7F-BBCD-4970-8540-8D42B82D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C1644-E82C-4D59-83D5-BAAD47BF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BENCHMARK • WARSZTAT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3BAF2-DF47-410F-AC35-2D9E6CFD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21CBD8-7346-49B8-B3CC-7792BD05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Czy otwieramy protected evidence?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D60703-8A8F-4A70-BCE4-8A3650A5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107442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EA130-C78D-46DE-9C93-F69E2A87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0096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Validation: 1,000 F1 dla trzech seedów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Diagnostic: 0,834–0,949 macro-F1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FC-209: trzy błędne PASS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Guard powstał po analizie diagnostic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419C8-92C0-40F5-87CD-FBB64FFA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Mini-komitet model risk • 5 minut • decyzja + uzasadnienie</a:t>
            </a:r>
          </a:p>
        </p:txBody>
      </p:sp>
    </p:spTree>
    <p:extLst>
      <p:ext uri="{BB962C8B-B14F-4D97-AF65-F5344CB8AC3E}">
        <p14:creationId xmlns:p14="http://schemas.microsoft.com/office/powerpoint/2010/main" val="1027382612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CBE0C4-36C6-4EBF-A485-2DE4086A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BANK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F3374-651F-48BC-AEA7-57689FB6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9D03C-2FBE-4A69-99F9-6C6DEF1E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Portfel use case’ów wymaga różnych barier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6ACB79-CECE-48F5-9D0D-0E982923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2220A-F944-4D83-B9AA-31C483BD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NISKA KONSEKWENCJA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9C5E94-AAA5-4860-BB07-AF0AC54C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Redakcja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13254D-D84D-4F4F-84BC-2485F749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Styl, format, klasyfikacja dokumentów i routing.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7E557A-60AB-4AB6-9C03-550A2DD0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B4319-643D-4E37-9267-DAC1E03E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ŚREDNIA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9B70D-8928-49F9-9C44-750C1F30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Kontrole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AD5BC-E9B6-403F-8F58-45F752EB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Ustalenia, kompletność i triage z human review.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1591DF-9498-4985-B417-A7600A65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5433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3F7699-97CD-4A4B-A5D0-94D732B1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5D5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5D5D"/>
                </a:solidFill>
                <a:latin typeface="Arial"/>
                <a:ea typeface="Arial"/>
                <a:cs typeface="Arial"/>
              </a:rPr>
              <a:t>WYSOKA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1F6049-CAE5-4D84-8DA2-41CC48AE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47950"/>
            <a:ext cx="3124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Decyzje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B93B20-FACD-4C9D-8987-15D61636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3124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Kredyt, AML i raportowanie — mocne ograniczenia i właściciel.</a:t>
            </a:r>
          </a:p>
        </p:txBody>
      </p:sp>
    </p:spTree>
    <p:extLst>
      <p:ext uri="{BB962C8B-B14F-4D97-AF65-F5344CB8AC3E}">
        <p14:creationId xmlns:p14="http://schemas.microsoft.com/office/powerpoint/2010/main" val="1621139512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77BF4A-DC74-46E9-8678-7CA5A271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BANK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C9A10B-5400-48EA-97A0-C89CAE87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52646-9E0B-4999-B448-34601693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Adapter to tylko część model risk management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22" name=""/>
          <p:cNvCxnSpPr/>
          <p:nvPr/>
        </p:nvCxnSpPr>
        <p:spPr>
          <a:xfrm xmlns:a="http://schemas.openxmlformats.org/drawingml/2006/main">
            <a:off x="495300" y="3257550"/>
            <a:ext cx="11144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FA356-8FFB-405F-B220-8C2F8BA4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F99E3D-A2DC-4A94-81B8-F632C285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4139F-34D2-4AED-818C-48F64875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Kontrakt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CD9C9-81D9-4567-B25C-D4DFBA4B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Intended use, status policy, dane i koszt błędu.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C40502-6B8C-4B2B-AB58-1230BF18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AE408-F7E6-4BBD-B4FC-939B7F32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2100C5-F33C-4A91-BDD1-F45367BF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894647-D486-4C53-897F-2F0E273E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Seedy, splity, review SME, regresje i guardy.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FD45F-CD4B-4E7C-838F-BBD4680D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51E86-D899-49D3-9004-258A07E9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OPERATE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8AA764-0419-4A06-A0AC-ACF33B9C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Monitoring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B9BC6C-2AB5-4CCA-B9FB-3184EF41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Drift, wersje, incydenty, rollback i owner.</a:t>
            </a:r>
          </a:p>
        </p:txBody>
      </p:sp>
    </p:spTree>
    <p:extLst>
      <p:ext uri="{BB962C8B-B14F-4D97-AF65-F5344CB8AC3E}">
        <p14:creationId xmlns:p14="http://schemas.microsoft.com/office/powerpoint/2010/main" val="25886710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D8ACA5-F03D-4B99-ADC7-9860A044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BANK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580F39-1692-41D3-B20D-8A8F8802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261F7D-533E-4C62-86C3-95AC74CE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Human oversight zależy od wpływu systemu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0BFA0-7FE9-4E1C-BEA9-217C87DD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45BC34-9B5B-4959-86E6-6CB942EF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Wzorzec bezpieczniejszy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242EB-E298-4DA6-A037-635F49D3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zadanie przygotowawcze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jawne źródła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możliwość odrzucenia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kompetentny reviewer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0FD3C7-BB5B-4E10-8CA8-5BFB71F7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554355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76F60-CC9D-40FA-A807-F5A9B96E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Wzorzec ryzykowny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80CFDB-1663-4DDB-915E-F35BC798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5219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automatyczna decyzja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profilowanie osób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brak audytu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brak ścieżki odwołania</a:t>
            </a:r>
          </a:p>
        </p:txBody>
      </p:sp>
    </p:spTree>
    <p:extLst>
      <p:ext uri="{BB962C8B-B14F-4D97-AF65-F5344CB8AC3E}">
        <p14:creationId xmlns:p14="http://schemas.microsoft.com/office/powerpoint/2010/main" val="1356457085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F19F94-96EB-4BA3-B60A-188A1D01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BANK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927DE-1C63-4318-9AB3-00ECB135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73C11-4734-4618-87D5-5446BEFA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91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90 dni zaczyna się od kontraktu, nie od GPU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00050" y="14097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22" name=""/>
          <p:cNvCxnSpPr/>
          <p:nvPr/>
        </p:nvCxnSpPr>
        <p:spPr>
          <a:xfrm xmlns:a="http://schemas.openxmlformats.org/drawingml/2006/main">
            <a:off x="495300" y="3257550"/>
            <a:ext cx="11144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B2DC5-51F2-467A-9D94-40A996E8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A89423-5349-44EF-9A1E-41AECC0B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0–30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F30129-B09B-4395-90D8-3BCBA66A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Zdefiniuj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2B195-C633-4590-86A1-A8DC9DAD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Use case, owner, ryzyko, goldy i metryki.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8DE4FD-7DBD-45AC-B44D-53E94440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E8A4D-0D51-4F40-BA7B-DF8ECA73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31–60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3519FE-030B-45C2-9968-87337B3E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Eksperymentuj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2CE15A-1B80-42C8-B77E-EB4B8751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Baseline, PEFT, boundary data i trzy seedy.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09D9F1-4FB3-4DB8-AA08-71AC2066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62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A782B5-EDFD-4C0E-B1E3-82DC0AA3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86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61–90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586237-94D0-4951-B278-E0BC0C1F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38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Zabezpiecz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05511-9288-417E-B316-91C79742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62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Guardy, human review, monitoring i runbook.</a:t>
            </a:r>
          </a:p>
        </p:txBody>
      </p:sp>
    </p:spTree>
    <p:extLst>
      <p:ext uri="{BB962C8B-B14F-4D97-AF65-F5344CB8AC3E}">
        <p14:creationId xmlns:p14="http://schemas.microsoft.com/office/powerpoint/2010/main" val="57701529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D436BE-3793-48B0-91E4-B8A0A3A2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672"/>
                </a:solidFill>
                <a:latin typeface="Arial"/>
                <a:ea typeface="Arial"/>
                <a:cs typeface="Arial"/>
              </a:rPr>
              <a:t>ZAMKNIĘCIE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6D410-4D87-473E-93D1-EAD63334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E8F55-1763-4FA9-89ED-9A190FB9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0287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Dane graniczne. Wiele metryk. Hybrydowa odpowiedzialność.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7CFD03-F0B1-4671-8F60-0C7D6FCC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857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F9811-194A-40BD-9C93-2CF46005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942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6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672"/>
                </a:solidFill>
                <a:latin typeface="Arial"/>
                <a:ea typeface="Arial"/>
                <a:cs typeface="Arial"/>
              </a:rPr>
              <a:t>LoRA i QLoRA obniżają koszt adaptacji. Profesjonalny system powstaje dopiero wokół adaptera.</a:t>
            </a:r>
          </a:p>
        </p:txBody>
      </p:sp>
    </p:spTree>
    <p:extLst>
      <p:ext uri="{BB962C8B-B14F-4D97-AF65-F5344CB8AC3E}">
        <p14:creationId xmlns:p14="http://schemas.microsoft.com/office/powerpoint/2010/main" val="11927307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2026-08-29T14:56:11.2360000Z</dcterms:created>
  <dcterms:modified xsi:type="dcterms:W3CDTF">2026-08-29T14:56:11.2360000Z</dcterms:modified>
</coreProperties>
</file>