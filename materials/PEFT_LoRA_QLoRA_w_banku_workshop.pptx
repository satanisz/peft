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2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3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e2256634a4882" /><Relationship Type="http://schemas.openxmlformats.org/officeDocument/2006/relationships/extended-properties" Target="/docProps/app.xml" Id="Rcb742491dabe46c3" /><Relationship Type="http://schemas.openxmlformats.org/officeDocument/2006/relationships/officeDocument" Target="/ppt/presentation.xml" Id="Rf00685382627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26120bb624449"/>
  </p:sldMasterIdLst>
  <p:notesMasterIdLst>
    <p:notesMasterId xmlns:r="http://schemas.openxmlformats.org/officeDocument/2006/relationships" r:id="Re3a21b3def90402f"/>
  </p:notesMasterIdLst>
  <p:sldIdLst>
    <p:sldId xmlns:r="http://schemas.openxmlformats.org/officeDocument/2006/relationships" id="256" r:id="Rc79f335943684c0e"/>
    <p:sldId xmlns:r="http://schemas.openxmlformats.org/officeDocument/2006/relationships" id="257" r:id="R0ab370142cb4488c"/>
    <p:sldId xmlns:r="http://schemas.openxmlformats.org/officeDocument/2006/relationships" id="258" r:id="Re6d2bd2abc9c4006"/>
    <p:sldId xmlns:r="http://schemas.openxmlformats.org/officeDocument/2006/relationships" id="259" r:id="R4ba3faf543ba4c1f"/>
    <p:sldId xmlns:r="http://schemas.openxmlformats.org/officeDocument/2006/relationships" id="260" r:id="Ra673a1dbcf3e49a1"/>
    <p:sldId xmlns:r="http://schemas.openxmlformats.org/officeDocument/2006/relationships" id="261" r:id="Rcc29cb60e39243b0"/>
    <p:sldId xmlns:r="http://schemas.openxmlformats.org/officeDocument/2006/relationships" id="262" r:id="R427cbeef5e004b05"/>
    <p:sldId xmlns:r="http://schemas.openxmlformats.org/officeDocument/2006/relationships" id="263" r:id="R77fbd7debf624e2a"/>
    <p:sldId xmlns:r="http://schemas.openxmlformats.org/officeDocument/2006/relationships" id="264" r:id="R94597f8724554b44"/>
    <p:sldId xmlns:r="http://schemas.openxmlformats.org/officeDocument/2006/relationships" id="265" r:id="R831a915d24e64895"/>
    <p:sldId xmlns:r="http://schemas.openxmlformats.org/officeDocument/2006/relationships" id="266" r:id="R9f02b4cec66449e9"/>
    <p:sldId xmlns:r="http://schemas.openxmlformats.org/officeDocument/2006/relationships" id="267" r:id="R890c9950e7454e3a"/>
    <p:sldId xmlns:r="http://schemas.openxmlformats.org/officeDocument/2006/relationships" id="268" r:id="R8a346c5189ba4af6"/>
    <p:sldId xmlns:r="http://schemas.openxmlformats.org/officeDocument/2006/relationships" id="269" r:id="Rde2f1f7631f14723"/>
    <p:sldId xmlns:r="http://schemas.openxmlformats.org/officeDocument/2006/relationships" id="270" r:id="R9ff175704c2d4396"/>
    <p:sldId xmlns:r="http://schemas.openxmlformats.org/officeDocument/2006/relationships" id="271" r:id="R023845242f1b4663"/>
    <p:sldId xmlns:r="http://schemas.openxmlformats.org/officeDocument/2006/relationships" id="272" r:id="R32e6676ce7e74fae"/>
    <p:sldId xmlns:r="http://schemas.openxmlformats.org/officeDocument/2006/relationships" id="273" r:id="R00e50f0a8b3f4f4f"/>
    <p:sldId xmlns:r="http://schemas.openxmlformats.org/officeDocument/2006/relationships" id="274" r:id="R00d1ad6a9c4c4532"/>
    <p:sldId xmlns:r="http://schemas.openxmlformats.org/officeDocument/2006/relationships" id="275" r:id="R24ba2561762846be"/>
    <p:sldId xmlns:r="http://schemas.openxmlformats.org/officeDocument/2006/relationships" id="276" r:id="R04bcfb4dd1244318"/>
    <p:sldId xmlns:r="http://schemas.openxmlformats.org/officeDocument/2006/relationships" id="277" r:id="Reeb3438bf62542af"/>
    <p:sldId xmlns:r="http://schemas.openxmlformats.org/officeDocument/2006/relationships" id="278" r:id="R94fdf1b4774f4dfb"/>
    <p:sldId xmlns:r="http://schemas.openxmlformats.org/officeDocument/2006/relationships" id="279" r:id="Rb8e847256b354b2f"/>
    <p:sldId xmlns:r="http://schemas.openxmlformats.org/officeDocument/2006/relationships" id="280" r:id="R4c947b15fbf04519"/>
    <p:sldId xmlns:r="http://schemas.openxmlformats.org/officeDocument/2006/relationships" id="281" r:id="Rfa5c04c2bd384920"/>
    <p:sldId xmlns:r="http://schemas.openxmlformats.org/officeDocument/2006/relationships" id="282" r:id="Rdb4d0e35f6d64ba3"/>
    <p:sldId xmlns:r="http://schemas.openxmlformats.org/officeDocument/2006/relationships" id="283" r:id="Rf60494e166f04558"/>
    <p:sldId xmlns:r="http://schemas.openxmlformats.org/officeDocument/2006/relationships" id="284" r:id="Rf4c994f586554678"/>
    <p:sldId xmlns:r="http://schemas.openxmlformats.org/officeDocument/2006/relationships" id="285" r:id="R7f096e258b914f13"/>
    <p:sldId xmlns:r="http://schemas.openxmlformats.org/officeDocument/2006/relationships" id="286" r:id="R0c39bb4dbbe04ea0"/>
    <p:sldId xmlns:r="http://schemas.openxmlformats.org/officeDocument/2006/relationships" id="287" r:id="Re87490353a7d4def"/>
    <p:sldId xmlns:r="http://schemas.openxmlformats.org/officeDocument/2006/relationships" id="288" r:id="Rc3a2dd47ea2749a8"/>
    <p:sldId xmlns:r="http://schemas.openxmlformats.org/officeDocument/2006/relationships" id="289" r:id="Rbaf682e69a4c4f54"/>
    <p:sldId xmlns:r="http://schemas.openxmlformats.org/officeDocument/2006/relationships" id="290" r:id="R0e25b4d9275044a2"/>
    <p:sldId xmlns:r="http://schemas.openxmlformats.org/officeDocument/2006/relationships" id="291" r:id="R5f7142a12f6240d3"/>
    <p:sldId xmlns:r="http://schemas.openxmlformats.org/officeDocument/2006/relationships" id="292" r:id="R22827f5012e44f9e"/>
    <p:sldId xmlns:r="http://schemas.openxmlformats.org/officeDocument/2006/relationships" id="293" r:id="R567411d3d28a4b03"/>
    <p:sldId xmlns:r="http://schemas.openxmlformats.org/officeDocument/2006/relationships" id="294" r:id="Rc94f4fe9d34d41b2"/>
    <p:sldId xmlns:r="http://schemas.openxmlformats.org/officeDocument/2006/relationships" id="295" r:id="R44948d25a45f4e8d"/>
    <p:sldId xmlns:r="http://schemas.openxmlformats.org/officeDocument/2006/relationships" id="296" r:id="R9677c3e15a334cbe"/>
    <p:sldId xmlns:r="http://schemas.openxmlformats.org/officeDocument/2006/relationships" id="297" r:id="R6d5205430c7c4cb7"/>
    <p:sldId xmlns:r="http://schemas.openxmlformats.org/officeDocument/2006/relationships" id="298" r:id="Rea06ceaad84e4058"/>
    <p:sldId xmlns:r="http://schemas.openxmlformats.org/officeDocument/2006/relationships" id="299" r:id="Rc1fe1580047f45bd"/>
    <p:sldId xmlns:r="http://schemas.openxmlformats.org/officeDocument/2006/relationships" id="300" r:id="Rec585732ac3b40d1"/>
    <p:sldId xmlns:r="http://schemas.openxmlformats.org/officeDocument/2006/relationships" id="301" r:id="Re56506c191664e02"/>
    <p:sldId xmlns:r="http://schemas.openxmlformats.org/officeDocument/2006/relationships" id="302" r:id="R931912f3840f4605"/>
    <p:sldId xmlns:r="http://schemas.openxmlformats.org/officeDocument/2006/relationships" id="303" r:id="Rb7b3d6828d5c4c64"/>
    <p:sldId xmlns:r="http://schemas.openxmlformats.org/officeDocument/2006/relationships" id="304" r:id="R72e214ebf5f44ae6"/>
    <p:sldId xmlns:r="http://schemas.openxmlformats.org/officeDocument/2006/relationships" id="305" r:id="R043d3ddf82304728"/>
    <p:sldId xmlns:r="http://schemas.openxmlformats.org/officeDocument/2006/relationships" id="306" r:id="R109f732946c743f2"/>
    <p:sldId xmlns:r="http://schemas.openxmlformats.org/officeDocument/2006/relationships" id="307" r:id="R1ae41b8d098f4b17"/>
    <p:sldId xmlns:r="http://schemas.openxmlformats.org/officeDocument/2006/relationships" id="308" r:id="R03326877fbc94f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4047115b0409c" /><Relationship Type="http://schemas.openxmlformats.org/officeDocument/2006/relationships/slideMaster" Target="/ppt/slideMasters/slideMaster1.xml" Id="R93126120bb624449" /><Relationship Type="http://schemas.openxmlformats.org/officeDocument/2006/relationships/notesMaster" Target="/ppt/notesMasters/notesMaster1.xml" Id="Re3a21b3def90402f" /><Relationship Type="http://schemas.openxmlformats.org/officeDocument/2006/relationships/presProps" Target="/ppt/presProps.xml" Id="R16b6e2f740864c2c" /><Relationship Type="http://schemas.openxmlformats.org/officeDocument/2006/relationships/tableStyles" Target="/ppt/tableStyles.xml" Id="Rc0b32af3703e4088" /><Relationship Type="http://schemas.openxmlformats.org/officeDocument/2006/relationships/slide" Target="/ppt/slides/slide1.xml" Id="Rc79f335943684c0e" /><Relationship Type="http://schemas.openxmlformats.org/officeDocument/2006/relationships/slide" Target="/ppt/slides/slide2.xml" Id="R0ab370142cb4488c" /><Relationship Type="http://schemas.openxmlformats.org/officeDocument/2006/relationships/slide" Target="/ppt/slides/slide3.xml" Id="Re6d2bd2abc9c4006" /><Relationship Type="http://schemas.openxmlformats.org/officeDocument/2006/relationships/slide" Target="/ppt/slides/slide4.xml" Id="R4ba3faf543ba4c1f" /><Relationship Type="http://schemas.openxmlformats.org/officeDocument/2006/relationships/slide" Target="/ppt/slides/slide5.xml" Id="Ra673a1dbcf3e49a1" /><Relationship Type="http://schemas.openxmlformats.org/officeDocument/2006/relationships/slide" Target="/ppt/slides/slide6.xml" Id="Rcc29cb60e39243b0" /><Relationship Type="http://schemas.openxmlformats.org/officeDocument/2006/relationships/slide" Target="/ppt/slides/slide7.xml" Id="R427cbeef5e004b05" /><Relationship Type="http://schemas.openxmlformats.org/officeDocument/2006/relationships/slide" Target="/ppt/slides/slide8.xml" Id="R77fbd7debf624e2a" /><Relationship Type="http://schemas.openxmlformats.org/officeDocument/2006/relationships/slide" Target="/ppt/slides/slide9.xml" Id="R94597f8724554b44" /><Relationship Type="http://schemas.openxmlformats.org/officeDocument/2006/relationships/slide" Target="/ppt/slides/slide10.xml" Id="R831a915d24e64895" /><Relationship Type="http://schemas.openxmlformats.org/officeDocument/2006/relationships/slide" Target="/ppt/slides/slide11.xml" Id="R9f02b4cec66449e9" /><Relationship Type="http://schemas.openxmlformats.org/officeDocument/2006/relationships/slide" Target="/ppt/slides/slide12.xml" Id="R890c9950e7454e3a" /><Relationship Type="http://schemas.openxmlformats.org/officeDocument/2006/relationships/slide" Target="/ppt/slides/slide13.xml" Id="R8a346c5189ba4af6" /><Relationship Type="http://schemas.openxmlformats.org/officeDocument/2006/relationships/slide" Target="/ppt/slides/slide14.xml" Id="Rde2f1f7631f14723" /><Relationship Type="http://schemas.openxmlformats.org/officeDocument/2006/relationships/slide" Target="/ppt/slides/slide15.xml" Id="R9ff175704c2d4396" /><Relationship Type="http://schemas.openxmlformats.org/officeDocument/2006/relationships/slide" Target="/ppt/slides/slide16.xml" Id="R023845242f1b4663" /><Relationship Type="http://schemas.openxmlformats.org/officeDocument/2006/relationships/slide" Target="/ppt/slides/slide17.xml" Id="R32e6676ce7e74fae" /><Relationship Type="http://schemas.openxmlformats.org/officeDocument/2006/relationships/slide" Target="/ppt/slides/slide18.xml" Id="R00e50f0a8b3f4f4f" /><Relationship Type="http://schemas.openxmlformats.org/officeDocument/2006/relationships/slide" Target="/ppt/slides/slide19.xml" Id="R00d1ad6a9c4c4532" /><Relationship Type="http://schemas.openxmlformats.org/officeDocument/2006/relationships/slide" Target="/ppt/slides/slide20.xml" Id="R24ba2561762846be" /><Relationship Type="http://schemas.openxmlformats.org/officeDocument/2006/relationships/slide" Target="/ppt/slides/slide21.xml" Id="R04bcfb4dd1244318" /><Relationship Type="http://schemas.openxmlformats.org/officeDocument/2006/relationships/slide" Target="/ppt/slides/slide22.xml" Id="Reeb3438bf62542af" /><Relationship Type="http://schemas.openxmlformats.org/officeDocument/2006/relationships/slide" Target="/ppt/slides/slide23.xml" Id="R94fdf1b4774f4dfb" /><Relationship Type="http://schemas.openxmlformats.org/officeDocument/2006/relationships/slide" Target="/ppt/slides/slide24.xml" Id="Rb8e847256b354b2f" /><Relationship Type="http://schemas.openxmlformats.org/officeDocument/2006/relationships/slide" Target="/ppt/slides/slide25.xml" Id="R4c947b15fbf04519" /><Relationship Type="http://schemas.openxmlformats.org/officeDocument/2006/relationships/slide" Target="/ppt/slides/slide26.xml" Id="Rfa5c04c2bd384920" /><Relationship Type="http://schemas.openxmlformats.org/officeDocument/2006/relationships/slide" Target="/ppt/slides/slide27.xml" Id="Rdb4d0e35f6d64ba3" /><Relationship Type="http://schemas.openxmlformats.org/officeDocument/2006/relationships/slide" Target="/ppt/slides/slide28.xml" Id="Rf60494e166f04558" /><Relationship Type="http://schemas.openxmlformats.org/officeDocument/2006/relationships/slide" Target="/ppt/slides/slide29.xml" Id="Rf4c994f586554678" /><Relationship Type="http://schemas.openxmlformats.org/officeDocument/2006/relationships/slide" Target="/ppt/slides/slide30.xml" Id="R7f096e258b914f13" /><Relationship Type="http://schemas.openxmlformats.org/officeDocument/2006/relationships/slide" Target="/ppt/slides/slide31.xml" Id="R0c39bb4dbbe04ea0" /><Relationship Type="http://schemas.openxmlformats.org/officeDocument/2006/relationships/slide" Target="/ppt/slides/slide32.xml" Id="Re87490353a7d4def" /><Relationship Type="http://schemas.openxmlformats.org/officeDocument/2006/relationships/slide" Target="/ppt/slides/slide33.xml" Id="Rc3a2dd47ea2749a8" /><Relationship Type="http://schemas.openxmlformats.org/officeDocument/2006/relationships/slide" Target="/ppt/slides/slide34.xml" Id="Rbaf682e69a4c4f54" /><Relationship Type="http://schemas.openxmlformats.org/officeDocument/2006/relationships/slide" Target="/ppt/slides/slide35.xml" Id="R0e25b4d9275044a2" /><Relationship Type="http://schemas.openxmlformats.org/officeDocument/2006/relationships/slide" Target="/ppt/slides/slide36.xml" Id="R5f7142a12f6240d3" /><Relationship Type="http://schemas.openxmlformats.org/officeDocument/2006/relationships/slide" Target="/ppt/slides/slide37.xml" Id="R22827f5012e44f9e" /><Relationship Type="http://schemas.openxmlformats.org/officeDocument/2006/relationships/slide" Target="/ppt/slides/slide38.xml" Id="R567411d3d28a4b03" /><Relationship Type="http://schemas.openxmlformats.org/officeDocument/2006/relationships/slide" Target="/ppt/slides/slide39.xml" Id="Rc94f4fe9d34d41b2" /><Relationship Type="http://schemas.openxmlformats.org/officeDocument/2006/relationships/slide" Target="/ppt/slides/slide40.xml" Id="R44948d25a45f4e8d" /><Relationship Type="http://schemas.openxmlformats.org/officeDocument/2006/relationships/slide" Target="/ppt/slides/slide41.xml" Id="R9677c3e15a334cbe" /><Relationship Type="http://schemas.openxmlformats.org/officeDocument/2006/relationships/slide" Target="/ppt/slides/slide42.xml" Id="R6d5205430c7c4cb7" /><Relationship Type="http://schemas.openxmlformats.org/officeDocument/2006/relationships/slide" Target="/ppt/slides/slide43.xml" Id="Rea06ceaad84e4058" /><Relationship Type="http://schemas.openxmlformats.org/officeDocument/2006/relationships/slide" Target="/ppt/slides/slide44.xml" Id="Rc1fe1580047f45bd" /><Relationship Type="http://schemas.openxmlformats.org/officeDocument/2006/relationships/slide" Target="/ppt/slides/slide45.xml" Id="Rec585732ac3b40d1" /><Relationship Type="http://schemas.openxmlformats.org/officeDocument/2006/relationships/slide" Target="/ppt/slides/slide46.xml" Id="Re56506c191664e02" /><Relationship Type="http://schemas.openxmlformats.org/officeDocument/2006/relationships/slide" Target="/ppt/slides/slide47.xml" Id="R931912f3840f4605" /><Relationship Type="http://schemas.openxmlformats.org/officeDocument/2006/relationships/slide" Target="/ppt/slides/slide48.xml" Id="Rb7b3d6828d5c4c64" /><Relationship Type="http://schemas.openxmlformats.org/officeDocument/2006/relationships/slide" Target="/ppt/slides/slide49.xml" Id="R72e214ebf5f44ae6" /><Relationship Type="http://schemas.openxmlformats.org/officeDocument/2006/relationships/slide" Target="/ppt/slides/slide50.xml" Id="R043d3ddf82304728" /><Relationship Type="http://schemas.openxmlformats.org/officeDocument/2006/relationships/slide" Target="/ppt/slides/slide51.xml" Id="R109f732946c743f2" /><Relationship Type="http://schemas.openxmlformats.org/officeDocument/2006/relationships/slide" Target="/ppt/slides/slide52.xml" Id="R1ae41b8d098f4b17" /><Relationship Type="http://schemas.openxmlformats.org/officeDocument/2006/relationships/slide" Target="/ppt/slides/slide53.xml" Id="R03326877fbc9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471736e3cd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1b45a14d64f0f" /><Relationship Type="http://schemas.openxmlformats.org/officeDocument/2006/relationships/notesMaster" Target="/ppt/notesMasters/notesMaster1.xml" Id="R66c5ac4f565f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42a2037334a90" /><Relationship Type="http://schemas.openxmlformats.org/officeDocument/2006/relationships/notesMaster" Target="/ppt/notesMasters/notesMaster1.xml" Id="R9853780fb17b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40bbf6308474b" /><Relationship Type="http://schemas.openxmlformats.org/officeDocument/2006/relationships/notesMaster" Target="/ppt/notesMasters/notesMaster1.xml" Id="R2cf153b41f2f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f5861cd3a491b" /><Relationship Type="http://schemas.openxmlformats.org/officeDocument/2006/relationships/notesMaster" Target="/ppt/notesMasters/notesMaster1.xml" Id="Rd8d4b00d7b77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8832919cd4d47" /><Relationship Type="http://schemas.openxmlformats.org/officeDocument/2006/relationships/notesMaster" Target="/ppt/notesMasters/notesMaster1.xml" Id="R3b2a595a7bb6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8640059c04274" /><Relationship Type="http://schemas.openxmlformats.org/officeDocument/2006/relationships/notesMaster" Target="/ppt/notesMasters/notesMaster1.xml" Id="R121dbd2c31794f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078f3b2a7541bf" /><Relationship Type="http://schemas.openxmlformats.org/officeDocument/2006/relationships/notesMaster" Target="/ppt/notesMasters/notesMaster1.xml" Id="R7f83f3c9fc9a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4011e9bd4c4358" /><Relationship Type="http://schemas.openxmlformats.org/officeDocument/2006/relationships/notesMaster" Target="/ppt/notesMasters/notesMaster1.xml" Id="R8e67fa902cc543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bbb0230d6c46a5" /><Relationship Type="http://schemas.openxmlformats.org/officeDocument/2006/relationships/notesMaster" Target="/ppt/notesMasters/notesMaster1.xml" Id="R5a595745670242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f81e4a9ba347e4" /><Relationship Type="http://schemas.openxmlformats.org/officeDocument/2006/relationships/notesMaster" Target="/ppt/notesMasters/notesMaster1.xml" Id="R117ca25fdf61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8c8a30bdb4de5" /><Relationship Type="http://schemas.openxmlformats.org/officeDocument/2006/relationships/notesMaster" Target="/ppt/notesMasters/notesMaster1.xml" Id="R9bcfc93d2f2748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c02ffc67924fb8" /><Relationship Type="http://schemas.openxmlformats.org/officeDocument/2006/relationships/notesMaster" Target="/ppt/notesMasters/notesMaster1.xml" Id="R7f4b8e5085a44f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618846bf854a96" /><Relationship Type="http://schemas.openxmlformats.org/officeDocument/2006/relationships/notesMaster" Target="/ppt/notesMasters/notesMaster1.xml" Id="Rbff3895621054a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5c295f3d254885" /><Relationship Type="http://schemas.openxmlformats.org/officeDocument/2006/relationships/notesMaster" Target="/ppt/notesMasters/notesMaster1.xml" Id="Rb3067574491445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e3ae1b95244440" /><Relationship Type="http://schemas.openxmlformats.org/officeDocument/2006/relationships/notesMaster" Target="/ppt/notesMasters/notesMaster1.xml" Id="R2449e2f2aa8043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fc89f667874be7" /><Relationship Type="http://schemas.openxmlformats.org/officeDocument/2006/relationships/notesMaster" Target="/ppt/notesMasters/notesMaster1.xml" Id="R2ef9dbe6e20648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76ccdac8a54172" /><Relationship Type="http://schemas.openxmlformats.org/officeDocument/2006/relationships/notesMaster" Target="/ppt/notesMasters/notesMaster1.xml" Id="R6cb02f79e07d44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add5ee052343cb" /><Relationship Type="http://schemas.openxmlformats.org/officeDocument/2006/relationships/notesMaster" Target="/ppt/notesMasters/notesMaster1.xml" Id="Rda39069c330a4e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1acf40e06e43bf" /><Relationship Type="http://schemas.openxmlformats.org/officeDocument/2006/relationships/notesMaster" Target="/ppt/notesMasters/notesMaster1.xml" Id="R09336607a8b942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e61994d8cf437a" /><Relationship Type="http://schemas.openxmlformats.org/officeDocument/2006/relationships/notesMaster" Target="/ppt/notesMasters/notesMaster1.xml" Id="Re04995eb079547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20ac9857804e38" /><Relationship Type="http://schemas.openxmlformats.org/officeDocument/2006/relationships/notesMaster" Target="/ppt/notesMasters/notesMaster1.xml" Id="Rfbb1fb01fcd64b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ab6d2cda554de6" /><Relationship Type="http://schemas.openxmlformats.org/officeDocument/2006/relationships/notesMaster" Target="/ppt/notesMasters/notesMaster1.xml" Id="Rf5807af0329d49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aab643fc934b71" /><Relationship Type="http://schemas.openxmlformats.org/officeDocument/2006/relationships/notesMaster" Target="/ppt/notesMasters/notesMaster1.xml" Id="R6dca0847141d48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aeb254d2a8400b" /><Relationship Type="http://schemas.openxmlformats.org/officeDocument/2006/relationships/notesMaster" Target="/ppt/notesMasters/notesMaster1.xml" Id="Rfe458b1153fa4c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c8b99a9c05473f" /><Relationship Type="http://schemas.openxmlformats.org/officeDocument/2006/relationships/notesMaster" Target="/ppt/notesMasters/notesMaster1.xml" Id="R9f8e4ca19e5140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5d7b6fb86a4ce6" /><Relationship Type="http://schemas.openxmlformats.org/officeDocument/2006/relationships/notesMaster" Target="/ppt/notesMasters/notesMaster1.xml" Id="R20bff72bffb843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a3ee3c72594720" /><Relationship Type="http://schemas.openxmlformats.org/officeDocument/2006/relationships/notesMaster" Target="/ppt/notesMasters/notesMaster1.xml" Id="R634dc66bf0404c2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aafadbf248540ad" /><Relationship Type="http://schemas.openxmlformats.org/officeDocument/2006/relationships/notesMaster" Target="/ppt/notesMasters/notesMaster1.xml" Id="R5458a98845b246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f3f1e8a2884ac3" /><Relationship Type="http://schemas.openxmlformats.org/officeDocument/2006/relationships/notesMaster" Target="/ppt/notesMasters/notesMaster1.xml" Id="R53f4d65ba63a4e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5e7f19193f4011" /><Relationship Type="http://schemas.openxmlformats.org/officeDocument/2006/relationships/notesMaster" Target="/ppt/notesMasters/notesMaster1.xml" Id="Rc5f91c040192431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df18fbe9394a61" /><Relationship Type="http://schemas.openxmlformats.org/officeDocument/2006/relationships/notesMaster" Target="/ppt/notesMasters/notesMaster1.xml" Id="Rc566d2bf08a14b6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053219f870f4942" /><Relationship Type="http://schemas.openxmlformats.org/officeDocument/2006/relationships/notesMaster" Target="/ppt/notesMasters/notesMaster1.xml" Id="R9a41df9def5a47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0b4e649067e4880" /><Relationship Type="http://schemas.openxmlformats.org/officeDocument/2006/relationships/notesMaster" Target="/ppt/notesMasters/notesMaster1.xml" Id="R69484635082545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60208a85e894072" /><Relationship Type="http://schemas.openxmlformats.org/officeDocument/2006/relationships/notesMaster" Target="/ppt/notesMasters/notesMaster1.xml" Id="R06e04dde81dc47b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e92c24df1304511" /><Relationship Type="http://schemas.openxmlformats.org/officeDocument/2006/relationships/notesMaster" Target="/ppt/notesMasters/notesMaster1.xml" Id="R1f0fdcd6a4ea4cd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46c3667b0c4454c" /><Relationship Type="http://schemas.openxmlformats.org/officeDocument/2006/relationships/notesMaster" Target="/ppt/notesMasters/notesMaster1.xml" Id="R4308f6bee9a1425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ebc2a385d114a4d" /><Relationship Type="http://schemas.openxmlformats.org/officeDocument/2006/relationships/notesMaster" Target="/ppt/notesMasters/notesMaster1.xml" Id="Rb41978149fcf418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dfcce955c7407d" /><Relationship Type="http://schemas.openxmlformats.org/officeDocument/2006/relationships/notesMaster" Target="/ppt/notesMasters/notesMaster1.xml" Id="Rd950c470768444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f34be76a9e84972" /><Relationship Type="http://schemas.openxmlformats.org/officeDocument/2006/relationships/notesMaster" Target="/ppt/notesMasters/notesMaster1.xml" Id="Ra1797c25a205448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c89fcc199a24d4a" /><Relationship Type="http://schemas.openxmlformats.org/officeDocument/2006/relationships/notesMaster" Target="/ppt/notesMasters/notesMaster1.xml" Id="R54215edd38f14a7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6de91e482d4d1c" /><Relationship Type="http://schemas.openxmlformats.org/officeDocument/2006/relationships/notesMaster" Target="/ppt/notesMasters/notesMaster1.xml" Id="Re3a4406914334b6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ebc45de33054006" /><Relationship Type="http://schemas.openxmlformats.org/officeDocument/2006/relationships/notesMaster" Target="/ppt/notesMasters/notesMaster1.xml" Id="R712dc12603214d8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c6bffcbcebb4255" /><Relationship Type="http://schemas.openxmlformats.org/officeDocument/2006/relationships/notesMaster" Target="/ppt/notesMasters/notesMaster1.xml" Id="Rc42a7765528d4bc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527f49e1e214574" /><Relationship Type="http://schemas.openxmlformats.org/officeDocument/2006/relationships/notesMaster" Target="/ppt/notesMasters/notesMaster1.xml" Id="R20164edf9077424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9ca53e91ba045c1" /><Relationship Type="http://schemas.openxmlformats.org/officeDocument/2006/relationships/notesMaster" Target="/ppt/notesMasters/notesMaster1.xml" Id="R4b4708ea018e48b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3c42a0d7344d87" /><Relationship Type="http://schemas.openxmlformats.org/officeDocument/2006/relationships/notesMaster" Target="/ppt/notesMasters/notesMaster1.xml" Id="Rd8bd87dc99bf470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8b660da4adf4b20" /><Relationship Type="http://schemas.openxmlformats.org/officeDocument/2006/relationships/notesMaster" Target="/ppt/notesMasters/notesMaster1.xml" Id="Rf67b2d4c186c4ff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cf47aa695b14a77" /><Relationship Type="http://schemas.openxmlformats.org/officeDocument/2006/relationships/notesMaster" Target="/ppt/notesMasters/notesMaster1.xml" Id="R6b0990c7828a431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bef129f30034d0f" /><Relationship Type="http://schemas.openxmlformats.org/officeDocument/2006/relationships/notesMaster" Target="/ppt/notesMasters/notesMaster1.xml" Id="R590b71bb5ed4456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697396f2ea1429e" /><Relationship Type="http://schemas.openxmlformats.org/officeDocument/2006/relationships/notesMaster" Target="/ppt/notesMasters/notesMaster1.xml" Id="Rd7267a67194941f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d1b042eb9834d89" /><Relationship Type="http://schemas.openxmlformats.org/officeDocument/2006/relationships/notesMaster" Target="/ppt/notesMasters/notesMaster1.xml" Id="R8d175809425d450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42e185f7cfd4a46" /><Relationship Type="http://schemas.openxmlformats.org/officeDocument/2006/relationships/notesMaster" Target="/ppt/notesMasters/notesMaster1.xml" Id="R61f575c002254da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015f91ddbd24801" /><Relationship Type="http://schemas.openxmlformats.org/officeDocument/2006/relationships/notesMaster" Target="/ppt/notesMasters/notesMaster1.xml" Id="R936ae2f67b34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 min</a:t>
            </a:r>
          </a:p>
          <a:p xmlns:a="http://schemas.openxmlformats.org/drawingml/2006/main">
            <a:r>
              <a:t>Cel: Ustawić zakres i profesjonalny ton szkolenia.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Przedstaw warsztat jako historię decyzji inżynierskiej, nie przegląd biblioteki. Zapowiedz, że użyjemy własnego bankowego eksperymentu i pokażemy również wynik negatywny.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Zbudować napięcie wokół FC-209.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wyjaśniaj jeszcze guarda. Pokaż, że struktura i arytmetyka mogą być poprawne, a decyzja biznesowa błędna. Poproś grupę, aby zapamiętała to zdanie.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Która metryka ujawni taki błąd, jeśli schema validity wynosi 100%?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repo:data/diagnostic/diagnostic_set_v1.jsonl#FC-209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Sukces ma trzy niezależne wymiary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Wyjaśnij, że decyzja, dowód i kontrakt wymagają osobnych testów. Bezpieczeństwo procesu będzie warstwą nadrzędną, której nie wolno redukować do jednej liczby.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Przejście: Najpierw określimy, co system może robić.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repo:docs/05_baseline_results.md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Copilot wspiera kontrolera — nie zatwierdza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Wyraźnie oddziel wspomaganie od automatycznej decyzji. To ograniczenie będzie później uzasadniało human review i protected gate.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Jedna historia: zachowanie → trening → dowód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Zaznacz przerwę po części QLoRA. Uczestnicy nie konfigurują środowisk; analizują decyzje i obserwują prawdziwy trening.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Czy brakuje wiedzy, czy zachowania?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najważniejsze pytanie diagnostyczne przed wyborem PEFT. Wiedzę zmienną zwykle dostarcza kontekst lub retrieval; stabilne zachowanie może trafić do adaptera.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Która część waszego procesu zmienia się co tydzień?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Każda interwencja rozwiązuje inny problem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Omów kolejność od najtańszej do najbardziej inwazyjnej interwencji. RAG i PEFT mogą działać razem — jeden dostarcza fakty, drugi sposób działania.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Gdzie PEFT ma sens w banku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klasyfikuj technologii jako bezpiecznej lub niebezpiecznej w abstrakcji. Ryzyko wynika z procesu, danych, wpływu i mechanizmu kontroli.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https://eur-lex.europa.eu/legal-content/EN/TXT/?uri=celex%3A32024R1689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6 min</a:t>
            </a:r>
          </a:p>
          <a:p xmlns:a="http://schemas.openxmlformats.org/drawingml/2006/main">
            <a:r>
              <a:t>Cel: Dobierz interwencję, zanim wybierzesz LoRA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Rozdaj cztery przypadki. Oczekuj: RAG; PEFT/SFT; rozważenie continued pretraining wraz z RAG/SFT; kod deterministyczny. Nie akceptuj odpowiedzi bez uzasadnienia częstotliwością zmian i kosztem błędu.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 B / uwaga: Jeśli czas ucieka, przeprowadź głosowanie przez podniesienie ręki.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Full FT aktualizuje więcej, niż zwykle trzeba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PEFT nie gwarantuje jakości; zmienia ekonomię eksperymentu i operacji. Podkreśl, że aktywacje nadal kosztują pamięć.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LoRA uczy małą aktualizację, nie mały model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 intuicję niskiego efektywnego rzędu aktualizacji. Nie twierdź, że wszystkie zadania mają ten sam optymalny rank.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W′ = W + (α/r)BA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Przejdź po wymiarach: dla warstwy d_out × d_in macierze mają odpowiednio d_out × r i r × d_in. Skalowanie kontroluje amplitudę korekty.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Rank 16: około 1,48% trenowanych parametrów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wzór r(d_in + d_out) dla jednej warstwy. Następnie wyjaśnij, że suma zależy od liczby i rozmiaru target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Czy dwukrotny rank zawsze daje dwukrotnie lepszą jakość?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Target modules wyznaczają swobodę adaptera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ma uniwersalnej listy nazw modułów. Należy sprawdzić architekturę modelu; HF PEFT może używać all-linear, ale jawny audyt jest nadal potrzebny.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Rank, alpha i dropout działają razem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Omów zależności zamiast katalogu domyślnych wartości. Wspomnij, że rsLoRA zmienia skalowanie na alpha/sqrt(r).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Adapter jest wersjonowanym artefaktem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Adapter bez manifestu i testu reloadu nie jest gotowym artefaktem. Merge upraszcza część wdrożeń, ale ogranicza możliwość szybkiego przełączania.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Alternatywy mają sens przy konkretnym ograniczeniu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przedstawiaj alternatyw jako automatycznych ulepszeń. To hipotezy do kontrolowanych ablations po zbudowaniu dobrego baseline’u.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https://arxiv.org/abs/2402.09353</a:t>
            </a:r>
          </a:p>
          <a:p xmlns:a="http://schemas.openxmlformats.org/drawingml/2006/main">
            <a:r>
              <a:t>- https://arxiv.org/abs/2205.05638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Pięć pytań przed treningiem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Zrób szybkie głosowanie: które pytanie jest najczęściej pomijane w projektach uczestników?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QLoRA: 4-bitowy base, gradient do adaptera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Przejdź dokładnie przez przepływ: zamrożone wagi są dekwantyzowane do typu obliczeń, gradient przechodzi przez model, ale aktualizuje adapter.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Pamięć GPU ma kilka właścicieli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Wspomnij gradient checkpointing: oszczędza aktywacje kosztem dodatkowego forwardu. Długość sekwencji może dominować pamięć mimo PEFT.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NF4 kompresuje bazowe wagi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Użyj precyzyjnego języka: NF4 wykorzystuje założenie o rozkładzie wag zbliżonym do normalnego; jest typem dla wag, nie ogólną obietnicą czterobitowego pipeline’u.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Double quant i paged optimizer mają różne role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łącz tych mechanizmów w jedno hasło. Każdy odpowiada za inny komponent budżetu pamięci.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Storage dtype ≠ compute dtype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Poproś uczestników, aby nazwali typ wag bazowych, typ obliczeń i typ parametrów adaptera. To częste źródło nieporozumień.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</a:t>
            </a:r>
          </a:p>
          <a:p xmlns:a="http://schemas.openxmlformats.org/drawingml/2006/main">
            <a:r>
              <a:t>Cel: Referencyjna konfiguracja mieści 4B w 7,55 GiB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Czytaj konfigurację od ograniczeń: 12 GiB VRAM, brak truncation, completion-only loss. Liczby czasu są lokalnym wynikiem projektu, nie uniwersalnym benchmarkiem sprzętu.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Metodę wybieramy według ograniczenia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Zakończ część techniczną zasadą: im prostsza gwarancja, tym mniej powinna zależeć od generatywnego modelu.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10 min</a:t>
            </a:r>
          </a:p>
          <a:p xmlns:a="http://schemas.openxmlformats.org/drawingml/2006/main">
            <a:r>
              <a:t>Cel: 10 minut przerwy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Ustaw licznik. W tle przygotuj terminal z dry-runem i otwórz konfigurację Q1 demo.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LLM jest jedną warstwą systemu bankowego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architektura docelowa case’u. Retrieval odpowiada za aktualność, kod za obliczenia, adapter za zachowanie, człowiek za decyzję o konsekwencjach.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Pięć statusów rozdziela różne sytuacje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Najwięcej uwagi poświęć rozróżnieniu braku danych i braku zastosowania. To nie są synonimy.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repo:configs/status_policy_v1.json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Losowy split rekordów może przeciekać semantykę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Wyjaśnij, że leakage nie musi oznaczać identycznego tekstu. W danych syntetycznych szczególnie łatwo nauczyć się szablonu generatora.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repo:data/DATASET_CARD.md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Jedna przesłanka powinna zmieniać jedną decyzję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Minimalne pary uczą granicy i pozwalają mierzyć pair accuracy. To bardziej diagnostyczne niż wiele łatwych przykładów tej samej klasy.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repo:data/BOUNDARY_DATASET_CARD.md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Dobry JSON nie oznacza dobrej decyzji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porównuj czasu inferencji jako stabilnego wyniku. Ten eksperyment służył do sprawdzenia pipeline’u i kontraktu metryk.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repo:docs/05_baseline_results.md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Q0 vs Q1 izoluje wartość boundary data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centralna ablation. Nie wolno przypisywać poprawy samej metodzie QLoRA, skoro oba warianty używają QLoRA.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8 min</a:t>
            </a:r>
          </a:p>
          <a:p xmlns:a="http://schemas.openxmlformats.org/drawingml/2006/main">
            <a:r>
              <a:t>Cel: Znajdź przesłankę, która zmienia status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Przeprowadź głosowanie, potem pracę w parach. Zbierz spory o definicje; pokaż, że rozbieżność anotatorów jest sygnałem problemu w kontrakcie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 B / uwaga: Jeżeli grupa jest szybka, dodaj przypadek konfliktu dwóch równorzędnych źródeł.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repo:data/BOUNDARY_DATASET_CARD.md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Pokazać zweryfikowany pipeline, bez przedstawiania mini-treningu jako dowodu jakości biznesowej.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fakty: 50 przypadków, rank 8, 12 kroków, 114,361 s, peak GPU 7,487 GiB i zero truncation. Wagi adaptera mają 33,1 MB. Fresh reload przeszedł 1/1 przy limicie 384 tokenów. Jakość nadal oceniamy na pełnym Q1 i protected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repo:results/sprint3/q1_demo_training_metrics.json</a:t>
            </a:r>
          </a:p>
          <a:p xmlns:a="http://schemas.openxmlformats.org/drawingml/2006/main">
            <a:r>
              <a:t>- repo:results/sprint3/q1_demo_adapter_manifest.json</a:t>
            </a:r>
          </a:p>
          <a:p xmlns:a="http://schemas.openxmlformats.org/drawingml/2006/main">
            <a:r>
              <a:t>- repo:results/sprint3/q1_demo_reload_smoke_metrics.json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Trening obserwujemy w trzech warstwach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 tych trzech warstwach pilnuj pięciu sygnałów: loss, gradient, VRAM, czas i truncation. Po biegu dochodzi test adaptera przez reload. Loss nie jest bramką jakości biznesowej.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Q1 zamraża warunki eksperymentu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plik konfiguracji w repo. Zwróć uwagę, że długość 1728 wynika z audytu tokenów, a nie z domyślnej wartości.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repo:configs/qlora_q1_v1.json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Pokazać rzeczywisty koszt ranku na dwóch artefaktach z tego projektu.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Porównaj rank 8 z demo (33,1 MB wag) z rank 16 pełnego Q1 (66,1 MB wag). To niemal liniowa relacja dla tej samej rodziny konfiguracji. Nie wyciągaj z rozmiaru wniosku o jakości: o niej decyduje benchmark, a adapter nadal wymaga zgodnej rewizji modelu bazowego.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repo:results/sprint3/q1_demo_adapter_manifest.json</a:t>
            </a:r>
          </a:p>
          <a:p xmlns:a="http://schemas.openxmlformats.org/drawingml/2006/main">
            <a:r>
              <a:t>- repo:results/sprint3/q1_adapter_manifest.json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Reload jest testem; merge jest decyzją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 naszym projekcie safe_merge i reload przeszły. Nie zakładaj, że sam zapis pliku oznacza poprawny artefakt.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Pokazać, że limit generacji jest elementem kontraktu testowego, a nie kosmetycznym parametrem.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Pierwszy fresh reload przy 128 tokenach zwrócił poprawny JSON, lecz niepełny schemat. Kontrolowany rerun przy 384 tokenach przeszedł JSON, schema, status, severity i źródła 1/1. Jeżeli demo trwa ponad 15 minut albo środowisko jest niestabilne, przełącz się na zapisany log, pełny Q1 i referencyjny adapter.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repo:results/sprint3/q1_demo_reload_smoke_metrics.json</a:t>
            </a:r>
          </a:p>
          <a:p xmlns:a="http://schemas.openxmlformats.org/drawingml/2006/main">
            <a:r>
              <a:t>- repo:docs/15_sprint_4_2a_training_scenario.md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Jedna metryka ukrywa koszt błędów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Dodaj source integrity, schema validity, status recall, FPR, koszt tokenów i rozrzut między seedami. Metryki odpowiadają różnym pytaniom.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repo:results/sprint3/m3_summary.md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Boundary data zmieniły wynik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najważniejszy wykres warsztatu. Wniosek brzmi: wartość pochodzi z kontrastowych danych, nie z etykiety QLoRA.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repo:results/sprint3/m3_summary.md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Trzy seedy potwierdziły łatwe validation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Automatyczna bramka była READY, ale review analityczny zatrzymał otwarcie testów. To pokazuje rolę bramki jakościowej ponad samym automatem.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repo:results/sprint4/m4_pretest_summary.md</a:t>
            </a:r>
          </a:p>
          <a:p xmlns:a="http://schemas.openxmlformats.org/drawingml/2006/main">
            <a:r>
              <a:t>- repo:docs/14_sprint_4_analytical_review.md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Prompt v2 naprawił kontrakt, nie decyzje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Severity v2 poniżej 90% w pierwszym seedzie wynikało z błędnych statusów, nie z niespójnej mapy pól. Guard potwierdził spójność kontraktu.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Błędy mają różne przyczyny i różne remedia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rób jednej poprawki na wszystkie błędy. Najpierw sklasyfikuj przyczynę: dane, prompt, model, guard czy niejednoznaczny gold.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repo:docs/16_sprint_4_2b_error_analysis_and_rerun_plan.md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FC-209: 27 &gt; 5, ale model zwrócił PASS 3/3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pełny output dla jednego seeda. Model nawet zapisał calculation.result=27. To nie jest brak danych ani błąd parsera.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Czy kolejny prompt rozwiązuje problem, czy tylko przesuwa ryzyko?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repo:data/diagnostic/diagnostic_set_v1.jsonl#FC-209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Guard blokuje sprzeczność, nie naprawia odpowiedzi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 dwa kontrakty: model quality pozostaje HOLD, a operational containment jest READY dla demonstracji. Nie mieszaj ich w jedną bramkę.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- repo:configs/deterministic_decision_rules_v1.json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7 min</a:t>
            </a:r>
          </a:p>
          <a:p xmlns:a="http://schemas.openxmlformats.org/drawingml/2006/main">
            <a:r>
              <a:t>Cel: Czy otwieramy protected evidence?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Oczekiwana decyzja: HOLD protected evidence, READY do materiału szkoleniowego. Retrospektywny guard nie jest niezależnym dowodem generalizacji.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repo:results/sprint4/m4_pretest_summary.md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Portfel use case’ów wymaga różnych barier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Przykłady: kontrola sprawozdań, audyt, odchylenia, reklamacje, incydenty. Wysoka konsekwencja nie wyklucza LLM, lecz zwiększa wymagania.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https://arxiv.org/abs/2311.11944</a:t>
            </a:r>
          </a:p>
          <a:p xmlns:a="http://schemas.openxmlformats.org/drawingml/2006/main">
            <a:r>
              <a:t>- https://arxiv.org/abs/2109.00122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Adapter to tylko część model risk management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Połącz techniczne artefakty z właścicielstwem procesu. Manifest adaptera, dataset card i gate są dokumentami governance.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https://www.eba.europa.eu/publications-and-media/press-releases/eba-publishes-follow-report-use-machine-learning-internal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Human oversight zależy od wpływu systemu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nie jest porada prawna. AI Act klasyfikuje według intended purpose i wpływu; systemy oceny zdolności kredytowej mogą należeć do kategorii high-risk. Zawsze sprawdzaj aktualny tekst i interpretację banku.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https://eur-lex.europa.eu/legal-content/EN/TXT/?uri=celex%3A32024R1689</a:t>
            </a:r>
          </a:p>
          <a:p xmlns:a="http://schemas.openxmlformats.org/drawingml/2006/main">
            <a:r>
              <a:t>- https://www.eba.europa.eu/publications-and-media/press-releases/eba-publishes-follow-report-use-machine-learning-internal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Plan 90 dni zaczyna się od kontraktu, nie od GPU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Zakończ rekomendacją sekwencji pracy. Nie obiecuj wdrożenia produkcyjnego w 90 dni — to plan dojścia do wiarygodnej decyzji pilotażowej.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 min</a:t>
            </a:r>
          </a:p>
          <a:p xmlns:a="http://schemas.openxmlformats.org/drawingml/2006/main">
            <a:r>
              <a:t>Cel: Dane graniczne. Wiele metryk. Hybrydowa odpowiedzialność.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Wróć do FC-209. Trzy prawdy: dane zmieniły Q1; jedna metryka nie wystarczyła; deterministyczny guard zatrzymał błąd, którego prompt nie usunął.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Którą jedną rzecz zmienicie w następnym eksperymencie?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026e00de7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05fa93d7514f1c" /><Relationship Type="http://schemas.openxmlformats.org/officeDocument/2006/relationships/slideLayout" Target="/ppt/slideLayouts/slideLayout1.xml" Id="R0e9b279b5be0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b279b5be0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7c25b0ebc47a6" /><Relationship Type="http://schemas.openxmlformats.org/officeDocument/2006/relationships/notesSlide" Target="/ppt/notesSlides/notesSlide1.xml" Id="R13dac370e1b646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24e9a80fe4792" /><Relationship Type="http://schemas.openxmlformats.org/officeDocument/2006/relationships/notesSlide" Target="/ppt/notesSlides/notesSlide2.xml" Id="R94e1e41ea0ca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61b4988dd4b77" /><Relationship Type="http://schemas.openxmlformats.org/officeDocument/2006/relationships/notesSlide" Target="/ppt/notesSlides/notesSlide3.xml" Id="Rf654424badfc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3ba3e1f24ee3" /><Relationship Type="http://schemas.openxmlformats.org/officeDocument/2006/relationships/notesSlide" Target="/ppt/notesSlides/notesSlide4.xml" Id="Rabc79f1b8ad8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24b7a86ff4216" /><Relationship Type="http://schemas.openxmlformats.org/officeDocument/2006/relationships/notesSlide" Target="/ppt/notesSlides/notesSlide5.xml" Id="R06419a9fd17343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423ac5e98456d" /><Relationship Type="http://schemas.openxmlformats.org/officeDocument/2006/relationships/notesSlide" Target="/ppt/notesSlides/notesSlide6.xml" Id="R482343f591264a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e5bb731e2424f" /><Relationship Type="http://schemas.openxmlformats.org/officeDocument/2006/relationships/notesSlide" Target="/ppt/notesSlides/notesSlide7.xml" Id="R814da69e3047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9ca023824905" /><Relationship Type="http://schemas.openxmlformats.org/officeDocument/2006/relationships/notesSlide" Target="/ppt/notesSlides/notesSlide8.xml" Id="R70ab263df00b4a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b6c527c84d1f" /><Relationship Type="http://schemas.openxmlformats.org/officeDocument/2006/relationships/notesSlide" Target="/ppt/notesSlides/notesSlide9.xml" Id="R9e8e79d9c5a2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fd4740b34b31" /><Relationship Type="http://schemas.openxmlformats.org/officeDocument/2006/relationships/notesSlide" Target="/ppt/notesSlides/notesSlide10.xml" Id="Rf83aa439b3734c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a0ff38f1943f0" /><Relationship Type="http://schemas.openxmlformats.org/officeDocument/2006/relationships/notesSlide" Target="/ppt/notesSlides/notesSlide11.xml" Id="Rb2c05708f35d43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6a19f3d34acf" /><Relationship Type="http://schemas.openxmlformats.org/officeDocument/2006/relationships/notesSlide" Target="/ppt/notesSlides/notesSlide12.xml" Id="R8c1499a437874f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ee4d13f54ba2" /><Relationship Type="http://schemas.openxmlformats.org/officeDocument/2006/relationships/notesSlide" Target="/ppt/notesSlides/notesSlide13.xml" Id="R01c5d456d2454a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4e6d904db473e" /><Relationship Type="http://schemas.openxmlformats.org/officeDocument/2006/relationships/notesSlide" Target="/ppt/notesSlides/notesSlide14.xml" Id="Rf15acb9ebc0c4c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ee38185534b93" /><Relationship Type="http://schemas.openxmlformats.org/officeDocument/2006/relationships/notesSlide" Target="/ppt/notesSlides/notesSlide15.xml" Id="Rc877e8f9a72547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35a463bdd4083" /><Relationship Type="http://schemas.openxmlformats.org/officeDocument/2006/relationships/notesSlide" Target="/ppt/notesSlides/notesSlide16.xml" Id="R44bf1c1974a54f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8a169ac2c4545" /><Relationship Type="http://schemas.openxmlformats.org/officeDocument/2006/relationships/notesSlide" Target="/ppt/notesSlides/notesSlide17.xml" Id="R7291f230af5944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ae38d017542d2" /><Relationship Type="http://schemas.openxmlformats.org/officeDocument/2006/relationships/notesSlide" Target="/ppt/notesSlides/notesSlide18.xml" Id="R85d935bb162141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f41faef524317" /><Relationship Type="http://schemas.openxmlformats.org/officeDocument/2006/relationships/notesSlide" Target="/ppt/notesSlides/notesSlide19.xml" Id="R321dfbc9d3974f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fedd8f4449e0" /><Relationship Type="http://schemas.openxmlformats.org/officeDocument/2006/relationships/notesSlide" Target="/ppt/notesSlides/notesSlide20.xml" Id="R09887f566ecb48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4b1cba4054678" /><Relationship Type="http://schemas.openxmlformats.org/officeDocument/2006/relationships/notesSlide" Target="/ppt/notesSlides/notesSlide21.xml" Id="R94544de63ebe4f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29c2446094c88" /><Relationship Type="http://schemas.openxmlformats.org/officeDocument/2006/relationships/notesSlide" Target="/ppt/notesSlides/notesSlide22.xml" Id="R3b342cb6840a40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e0c05f7cf4a3d" /><Relationship Type="http://schemas.openxmlformats.org/officeDocument/2006/relationships/notesSlide" Target="/ppt/notesSlides/notesSlide23.xml" Id="R3c900a80afd144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375c5c3924c38" /><Relationship Type="http://schemas.openxmlformats.org/officeDocument/2006/relationships/notesSlide" Target="/ppt/notesSlides/notesSlide24.xml" Id="R3c6d414630e040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df987497f4a13" /><Relationship Type="http://schemas.openxmlformats.org/officeDocument/2006/relationships/notesSlide" Target="/ppt/notesSlides/notesSlide25.xml" Id="Rec8459608a4d49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d635f73e14677" /><Relationship Type="http://schemas.openxmlformats.org/officeDocument/2006/relationships/notesSlide" Target="/ppt/notesSlides/notesSlide26.xml" Id="R3e5ab24dbe2046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bc748251645c3" /><Relationship Type="http://schemas.openxmlformats.org/officeDocument/2006/relationships/notesSlide" Target="/ppt/notesSlides/notesSlide27.xml" Id="Ra9ae848a9ef248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ea9f9bb6946da" /><Relationship Type="http://schemas.openxmlformats.org/officeDocument/2006/relationships/notesSlide" Target="/ppt/notesSlides/notesSlide28.xml" Id="Ra40658f9352244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de01aefa4e17" /><Relationship Type="http://schemas.openxmlformats.org/officeDocument/2006/relationships/notesSlide" Target="/ppt/notesSlides/notesSlide29.xml" Id="R4e2273c13ea241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ceeb400d4935" /><Relationship Type="http://schemas.openxmlformats.org/officeDocument/2006/relationships/notesSlide" Target="/ppt/notesSlides/notesSlide30.xml" Id="Rf461a31d632847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2be3a36674741" /><Relationship Type="http://schemas.openxmlformats.org/officeDocument/2006/relationships/chart" Target="/ppt/slides/charts/chart1.xml" Id="R80ca6189e0494c35" /><Relationship Type="http://schemas.openxmlformats.org/officeDocument/2006/relationships/notesSlide" Target="/ppt/notesSlides/notesSlide31.xml" Id="R99fadaea322a43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af851cf9479e" /><Relationship Type="http://schemas.openxmlformats.org/officeDocument/2006/relationships/notesSlide" Target="/ppt/notesSlides/notesSlide32.xml" Id="R0d123ae153494a6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2ec60c16f422d" /><Relationship Type="http://schemas.openxmlformats.org/officeDocument/2006/relationships/notesSlide" Target="/ppt/notesSlides/notesSlide33.xml" Id="R0cd00715067949d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f0180be5d4aea" /><Relationship Type="http://schemas.openxmlformats.org/officeDocument/2006/relationships/notesSlide" Target="/ppt/notesSlides/notesSlide34.xml" Id="R773acfa7bfa0482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238e2bd8f42ce" /><Relationship Type="http://schemas.openxmlformats.org/officeDocument/2006/relationships/notesSlide" Target="/ppt/notesSlides/notesSlide35.xml" Id="R2a05090cceb54ac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c02fad13442f0" /><Relationship Type="http://schemas.openxmlformats.org/officeDocument/2006/relationships/notesSlide" Target="/ppt/notesSlides/notesSlide36.xml" Id="Rae7420661068438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46ab22658417a" /><Relationship Type="http://schemas.openxmlformats.org/officeDocument/2006/relationships/notesSlide" Target="/ppt/notesSlides/notesSlide37.xml" Id="Rdde920ca797247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d057eae064750" /><Relationship Type="http://schemas.openxmlformats.org/officeDocument/2006/relationships/notesSlide" Target="/ppt/notesSlides/notesSlide38.xml" Id="R4f26401d98a1431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5614c47f64019" /><Relationship Type="http://schemas.openxmlformats.org/officeDocument/2006/relationships/notesSlide" Target="/ppt/notesSlides/notesSlide39.xml" Id="R9b830bf3ec4948e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b913ec66742bb" /><Relationship Type="http://schemas.openxmlformats.org/officeDocument/2006/relationships/notesSlide" Target="/ppt/notesSlides/notesSlide40.xml" Id="R8427ed419160444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9107dcc984910" /><Relationship Type="http://schemas.openxmlformats.org/officeDocument/2006/relationships/notesSlide" Target="/ppt/notesSlides/notesSlide41.xml" Id="R4c3d417512484ad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b6f3e205d42d4" /><Relationship Type="http://schemas.openxmlformats.org/officeDocument/2006/relationships/chart" Target="/ppt/slides/charts/chart2.xml" Id="Re637e684ec834cbb" /><Relationship Type="http://schemas.openxmlformats.org/officeDocument/2006/relationships/notesSlide" Target="/ppt/notesSlides/notesSlide42.xml" Id="R3cadb9cc309e482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263ded6284d78" /><Relationship Type="http://schemas.openxmlformats.org/officeDocument/2006/relationships/notesSlide" Target="/ppt/notesSlides/notesSlide43.xml" Id="R279b20bc9ad3496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92a9232ef438c" /><Relationship Type="http://schemas.openxmlformats.org/officeDocument/2006/relationships/chart" Target="/ppt/slides/charts/chart3.xml" Id="Rdc5a2cabedbe455b" /><Relationship Type="http://schemas.openxmlformats.org/officeDocument/2006/relationships/notesSlide" Target="/ppt/notesSlides/notesSlide44.xml" Id="R0fa401a21f07491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92a4b777b4ea2" /><Relationship Type="http://schemas.openxmlformats.org/officeDocument/2006/relationships/notesSlide" Target="/ppt/notesSlides/notesSlide45.xml" Id="R79c5b6750d5b42d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355eeb2654f43" /><Relationship Type="http://schemas.openxmlformats.org/officeDocument/2006/relationships/notesSlide" Target="/ppt/notesSlides/notesSlide46.xml" Id="Rc7e46e9628524ba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9c3cc81e348a5" /><Relationship Type="http://schemas.openxmlformats.org/officeDocument/2006/relationships/notesSlide" Target="/ppt/notesSlides/notesSlide47.xml" Id="R9919fc31e4b3444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116d4bc4645cb" /><Relationship Type="http://schemas.openxmlformats.org/officeDocument/2006/relationships/notesSlide" Target="/ppt/notesSlides/notesSlide48.xml" Id="R802683e6dfc0432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1b90531044a8d" /><Relationship Type="http://schemas.openxmlformats.org/officeDocument/2006/relationships/notesSlide" Target="/ppt/notesSlides/notesSlide49.xml" Id="Rf96dcb0675b6421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37620b29740b8" /><Relationship Type="http://schemas.openxmlformats.org/officeDocument/2006/relationships/notesSlide" Target="/ppt/notesSlides/notesSlide50.xml" Id="R2f311d080bbb4e0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fd9674ec9411f" /><Relationship Type="http://schemas.openxmlformats.org/officeDocument/2006/relationships/notesSlide" Target="/ppt/notesSlides/notesSlide51.xml" Id="R4a34062004644fd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4f03b052c4275" /><Relationship Type="http://schemas.openxmlformats.org/officeDocument/2006/relationships/notesSlide" Target="/ppt/notesSlides/notesSlide52.xml" Id="R9475646306fd4d7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3f9ce855a4642" /><Relationship Type="http://schemas.openxmlformats.org/officeDocument/2006/relationships/notesSlide" Target="/ppt/notesSlides/notesSlide53.xml" Id="R0a0f57934cfb41f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Zero-shot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JSON</c:v>
              </c:pt>
              <c:pt idx="1">
                <c:v>Schemat</c:v>
              </c:pt>
              <c:pt idx="2">
                <c:v>Status</c:v>
              </c:pt>
              <c:pt idx="3">
                <c:v>Severity</c:v>
              </c:pt>
            </c:strLit>
          </c:cat>
          <c:val>
            <c:numLit>
              <c:formatCode>0"%"</c:formatCode>
              <c:ptCount val="4"/>
              <c:pt idx="0">
                <c:v>100</c:v>
              </c:pt>
              <c:pt idx="1">
                <c:v>0</c:v>
              </c:pt>
              <c:pt idx="2">
                <c:v>30</c:v>
              </c:pt>
              <c:pt idx="3">
                <c:v>30</c:v>
              </c:pt>
            </c:numLit>
          </c:val>
        </c:ser>
        <c:ser>
          <c:idx val="1"/>
          <c:order val="1"/>
          <c:tx>
            <c:v>Few-shot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JSON</c:v>
              </c:pt>
              <c:pt idx="1">
                <c:v>Schemat</c:v>
              </c:pt>
              <c:pt idx="2">
                <c:v>Status</c:v>
              </c:pt>
              <c:pt idx="3">
                <c:v>Severity</c:v>
              </c:pt>
            </c:strLit>
          </c:cat>
          <c:val>
            <c:numLit>
              <c:formatCode>0"%"</c:formatCode>
              <c:ptCount val="4"/>
              <c:pt idx="0">
                <c:v>100</c:v>
              </c:pt>
              <c:pt idx="1">
                <c:v>90</c:v>
              </c:pt>
              <c:pt idx="2">
                <c:v>40</c:v>
              </c:pt>
              <c:pt idx="3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6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B3</c:v>
              </c:pt>
              <c:pt idx="1">
                <c:v>Q0</c:v>
              </c:pt>
              <c:pt idx="2">
                <c:v>Q1</c:v>
              </c:pt>
            </c:strLit>
          </c:cat>
          <c:val>
            <c:numLit>
              <c:formatCode>0"%"</c:formatCode>
              <c:ptCount val="3"/>
              <c:pt idx="0">
                <c:v>89.4</c:v>
              </c:pt>
              <c:pt idx="1">
                <c:v>78.6</c:v>
              </c:pt>
              <c:pt idx="2">
                <c:v>100</c:v>
              </c:pt>
            </c:numLit>
          </c:val>
        </c:ser>
        <c:ser>
          <c:idx val="1"/>
          <c:order val="1"/>
          <c:tx>
            <c:v>Pair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B3</c:v>
              </c:pt>
              <c:pt idx="1">
                <c:v>Q0</c:v>
              </c:pt>
              <c:pt idx="2">
                <c:v>Q1</c:v>
              </c:pt>
            </c:strLit>
          </c:cat>
          <c:val>
            <c:numLit>
              <c:formatCode>0"%"</c:formatCode>
              <c:ptCount val="3"/>
              <c:pt idx="0">
                <c:v>81.7</c:v>
              </c:pt>
              <c:pt idx="1">
                <c:v>61.7</c:v>
              </c:pt>
              <c:pt idx="2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6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Severity v1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Seed 27</c:v>
              </c:pt>
              <c:pt idx="1">
                <c:v>Seed 28</c:v>
              </c:pt>
              <c:pt idx="2">
                <c:v>Seed 29</c:v>
              </c:pt>
            </c:strLit>
          </c:cat>
          <c:val>
            <c:numLit>
              <c:formatCode>0"%"</c:formatCode>
              <c:ptCount val="3"/>
              <c:pt idx="0">
                <c:v>76.7</c:v>
              </c:pt>
              <c:pt idx="1">
                <c:v>83.3</c:v>
              </c:pt>
              <c:pt idx="2">
                <c:v>90</c:v>
              </c:pt>
            </c:numLit>
          </c:val>
        </c:ser>
        <c:ser>
          <c:idx val="1"/>
          <c:order val="1"/>
          <c:tx>
            <c:v>Severity v2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Seed 27</c:v>
              </c:pt>
              <c:pt idx="1">
                <c:v>Seed 28</c:v>
              </c:pt>
              <c:pt idx="2">
                <c:v>Seed 29</c:v>
              </c:pt>
            </c:strLit>
          </c:cat>
          <c:val>
            <c:numLit>
              <c:formatCode>0"%"</c:formatCode>
              <c:ptCount val="3"/>
              <c:pt idx="0">
                <c:v>86.7</c:v>
              </c:pt>
              <c:pt idx="1">
                <c:v>93.3</c:v>
              </c:pt>
              <c:pt idx="2">
                <c:v>96.7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6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0B5C3-2F0F-4D8C-AC75-A9384237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21453-491E-42FC-BC64-7627B0E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WARSZTAT • 180 MINUT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FAF92-C4B0-4EF1-8B90-6D60563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Parameter-Efficient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 w banku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8C1BC-23C4-423A-828C-CD6ABC2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Od LoRA i QLoRA do wiarygodnego benchmarku oraz bezpiecznej architektury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E1D63-29AD-4986-8FB1-E1FC2C7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LoRA • QLoRA • dane • benchmark • guard</a:t>
            </a:r>
          </a:p>
        </p:txBody>
      </p:sp>
    </p:spTree>
    <p:extLst>
      <p:ext uri="{BB962C8B-B14F-4D97-AF65-F5344CB8AC3E}">
        <p14:creationId xmlns:p14="http://schemas.microsoft.com/office/powerpoint/2010/main" val="37025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FAF6-44D6-4C7B-B219-BAB0B54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54907-9CB2-4930-8B01-64033B6B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8EE7-2539-425D-84BF-33B6955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policzył 27. Potem uznał, że 27 ≤ 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7707-3EA8-4D3E-93CB-F717564A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644D-B383-4AA6-941A-C60FF50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Trzy seedy, ten sam błąd, poprawny JSON i poprawne źródła. To będzie nasz test rzeczywistości.</a:t>
            </a:r>
          </a:p>
        </p:txBody>
      </p:sp>
    </p:spTree>
    <p:extLst>
      <p:ext uri="{BB962C8B-B14F-4D97-AF65-F5344CB8AC3E}">
        <p14:creationId xmlns:p14="http://schemas.microsoft.com/office/powerpoint/2010/main" val="1038824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EC275-D040-4C2C-A69F-205DBA7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7B5E-995C-41CB-AE5D-320B29F4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60E99-49C2-469F-A94C-99ACCBA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Sukces ma trzy niezależne wymiary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7912-CE99-45D4-85B4-AD91308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752CE-9294-4AB6-BB55-38C739D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6EEE0-E366-407E-9960-84AF15B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4097A-48D1-4B10-BB77-21FE751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status odpowiada przesłankom i kosztowi błędu?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284D2-65F0-4284-8A86-6FDC877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C33BE-BA2B-4E3E-BFC0-02EF6CA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0B372-023A-4C27-B40C-4A80E753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Dowód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4783A-8458-4033-B8BD-D7435ABE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wynik wskazuje dozwolone, wystarczające źródła?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A0107-F7A9-409F-A519-F69CA275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3CD51-2020-4303-AA50-59BC175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5DF8D-DEA1-4213-BC62-702B0B3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Kontrakt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FB5AE-5D64-44C2-90D9-EE2F643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JSON, severity i human review są spójne?</a:t>
            </a:r>
          </a:p>
        </p:txBody>
      </p:sp>
    </p:spTree>
    <p:extLst>
      <p:ext uri="{BB962C8B-B14F-4D97-AF65-F5344CB8AC3E}">
        <p14:creationId xmlns:p14="http://schemas.microsoft.com/office/powerpoint/2010/main" val="25191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A438A-1DCC-4DFB-8790-87AD1F9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03A2F-B33A-4127-B902-AD57E57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A929-FCE3-4B16-81DC-21D651B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Copilot wspiera kontrolera — nie zatwierdza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B1782-CA6F-4E5A-8D33-5341FA61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FFCE-3B7D-4CB2-B8E3-88171E5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+ adapter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2441-938C-4970-8C83-34694D9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klasyfikuje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porządkuje ustalenie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cytuje dowody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proponuje eskalację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F26E2-1B5D-4059-9601-3E5484C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3839-567A-4328-8E5A-EDF0A64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Poza zakresem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850DD-10E4-4CD0-8001-3BEE6D1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zatwierdzenie sprawozdania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zaksięgowanie korekty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decyzja regulacyjna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decyzja kredytowa</a:t>
            </a:r>
          </a:p>
        </p:txBody>
      </p:sp>
    </p:spTree>
    <p:extLst>
      <p:ext uri="{BB962C8B-B14F-4D97-AF65-F5344CB8AC3E}">
        <p14:creationId xmlns:p14="http://schemas.microsoft.com/office/powerpoint/2010/main" val="1167797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2C233-9AFB-4F4C-840E-D3C27BA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9699-8730-42E1-A1E0-E3CDE1F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A91DB-D8D9-44E4-A797-7E06EB7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Jedna historia: zachowanie → trening → dowód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D0B34-246F-4538-BF97-3910FF0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AF0C5-ACD2-438D-A54A-1DFB50F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0–80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40911-E6DC-4823-BC14-4C9E683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9E520-05F9-4D1A-86D8-A7E8473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Kiedy PEFT, jak działa LoRA i gdzie QLoRA oszczędza pamięć.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413A6-C038-4679-865A-A7D1E03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6609E-4151-4C30-ACE6-9DF21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90–148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59555-DB39-4DF0-8463-1877445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Warsztat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72047-13CB-4B54-8685-C4C187D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 graniczne, konfiguracja, trening, adapter i reload.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57DCA-0753-4C95-B113-9108C86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E8D12-FA32-4032-A418-EFEB7A7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148–180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B6FB-684F-4A0B-8BF4-FABF675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D8139-F9EC-45A3-ADFF-76FC612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Benchmark, FC-209, guard oraz bankowy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744055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CDCBD-2D9C-4666-A8CF-84DD816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DOBÓR METODY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18B35-6445-420D-961E-6CAF0E78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7A731-7BEB-401E-8DAE-B973F39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Czy brakuje wiedzy, czy zachowania?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0074-6EDA-4B58-9B92-0D78C6C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097F-2981-4D20-9090-277BB86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Wiedza zmienna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4762E-8683-4B9E-B678-D7EDBE3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procedury i regulaminy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bieżące dane klienta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wersje raportów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progi z polityki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8C48F-3C4A-47EC-B863-7ADE6C5E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44A64-A36E-4A64-96E5-3FE18FA0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Zachowanie stabilne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E4FA-BE11-4C02-B776-B91FDFA3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format odpowiedzi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styl ustalenia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hierarchia statusów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zasady eskalacji</a:t>
            </a:r>
          </a:p>
        </p:txBody>
      </p:sp>
    </p:spTree>
    <p:extLst>
      <p:ext uri="{BB962C8B-B14F-4D97-AF65-F5344CB8AC3E}">
        <p14:creationId xmlns:p14="http://schemas.microsoft.com/office/powerpoint/2010/main" val="2033830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BB7997-9757-4804-9D69-3A9303A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DOBÓR METODY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A6643-1B63-469D-BC80-89DF23D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887A8-3660-44E8-B468-BA176E0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Każda interwencja rozwiązuje inny problem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A52C-1CCF-47DA-83C1-91FCFDBB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BB8DA-294B-4AE8-94B1-74E7670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A199F-CEED-4B46-86F7-137F51C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6B06-9E64-421F-A20B-AC3D54E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Pierwszy wybór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262C6-42B9-4C5C-B267-3E7C632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CFE9-B672-452B-A89B-711A6B1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Sygnał ostrzegawczy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4762B-17E2-4E47-A0B7-BFADF88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8D9B1-4612-463F-97B2-534C887C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Lepsza instrukcja i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D5DF0-2340-437A-92F8-8AD98FA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8197E-DD01-4FB2-BD21-2D71462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840FD-0592-4C24-A86D-478169B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1406C-0897-4252-83A9-5CF6357B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Długi prompt w każdym wywołaniu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88C07-2ACC-4A40-B847-665F4E0B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6472A-E83A-4ADF-8571-A13A7102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Aktualne dokumenty i fakty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ADA7D-FBDB-4267-82C5-71E4E69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69D71-FEAC-45E8-AF3A-A8A334D8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3D3B4-63CE-41DD-B16E-3D4E1FA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9260C-A61A-4B90-AFD3-3CEDE063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 nie uczy procedury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94E4A-9ECC-4989-BE8D-644DC642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CF172-F73B-4065-A52C-53DB261C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Stabilne zachowanie domenowe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9267C-72DD-4376-BD86-A3F98A7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4F017-29F2-4A4F-9690-BEDF9DE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SFT + PEFT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8123B-DD03-4136-9FC3-789B8BC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582DC-321D-4B86-A69B-6B85174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Potrzebne goldy i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48CB1-97E6-41F8-9D37-C343E62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15AC7-2921-4953-BDB0-EE84959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Nowy rozkład języka domeny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C13DA-B6AB-4AB4-A763-7189237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106DB5-0B28-4514-9622-D357998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Continued pretraining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BD68A-8AEA-492D-B983-6FE79D9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1AA1C-237E-4046-A2E6-CF3597E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Wysoki koszt i ryzyko driftu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0FC82-4FBB-4568-B13A-B85A5A4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Pełny fine-tuning jest opcją architektoniczną, a nie domyślnym punktem startu.</a:t>
            </a:r>
          </a:p>
        </p:txBody>
      </p:sp>
    </p:spTree>
    <p:extLst>
      <p:ext uri="{BB962C8B-B14F-4D97-AF65-F5344CB8AC3E}">
        <p14:creationId xmlns:p14="http://schemas.microsoft.com/office/powerpoint/2010/main" val="1183413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43EFE-F254-44FD-850E-B4E3107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DOBÓR METODY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1E390-CBA9-446B-B56A-62F8281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56BD2-CE46-4AAC-8417-2D99B50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Gdzie PEFT ma sens w banku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D7FAE-BB82-4B78-8301-84B99C5D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F87AC-27BC-4B26-91D6-4C5A1C8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DOBRY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45E4D-F388-4572-A021-908EF24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BE16-ECAA-4F3F-8599-564FB314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Klasyfikacja ustaleń, kompletność checklist, evidence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80A0F-B9ED-47FE-900A-B34351B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86999-15B1-4D3B-914B-F94263B3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WARUNKOWO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DCC29-72A9-40F2-B8EC-CB403F6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Obsługa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53441-3361-4EE0-B26A-B0F2498B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Triage reklamacji i incydentów z obowiązkową eskalacją.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92809-09F1-4831-AD83-E88DFBA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870A3-6CF9-4033-A837-F0060BB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NIE SAMODZIELNIE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FDFAB-EC16-485A-8F5A-5E9BDFD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D2585-9CDE-4E59-B933-F824482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Kredyt, AML, wyjątki regulacyjne i zatwierdzenia.</a:t>
            </a:r>
          </a:p>
        </p:txBody>
      </p:sp>
    </p:spTree>
    <p:extLst>
      <p:ext uri="{BB962C8B-B14F-4D97-AF65-F5344CB8AC3E}">
        <p14:creationId xmlns:p14="http://schemas.microsoft.com/office/powerpoint/2010/main" val="952884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39753-106B-47F5-B0A6-C2E47C7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6C9AF-85B0-4929-9545-444B5E4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DOBÓR METODY • WARSZTAT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22CB4-EBCF-44E0-A2B4-ED10E6E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44444-4B50-4FD8-A7C5-0A8A55E5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Dobierz interwencję, zanim wybierzesz 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56A3-FAD0-40D3-9BF8-BBD3DE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C7F4-AF0C-48D5-AFC3-FD67B9A4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Procedura zmienia się co tydzień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Statusy są stabilne, ale regularnie mylone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Model nie zna słownictwa produktu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Jedna reguła brzmi: różnica &gt; próg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6BD3F-4AC7-49BF-9FB9-4B3AFC7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grupy • 4 minuty • wskaż metodę i koszt błędu</a:t>
            </a:r>
          </a:p>
        </p:txBody>
      </p:sp>
    </p:spTree>
    <p:extLst>
      <p:ext uri="{BB962C8B-B14F-4D97-AF65-F5344CB8AC3E}">
        <p14:creationId xmlns:p14="http://schemas.microsoft.com/office/powerpoint/2010/main" val="184035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76797-90F0-4DDC-96BC-841C2B2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5642D-4B88-44E3-8653-7AFE653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0B0C0-5154-440D-A7B0-79C4B50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FT aktualizuje więcej, niż zwykle trzeba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5DF9F-62DE-47C5-9D7F-43175D71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1371E-3D7F-4999-881A-4345810D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Pełny fine-tuning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F52AC-B0E9-475C-A777-A7CE06E7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gradient dla wszystkich wag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duży stan optymalizatora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osobna kopia modelu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trudniejsze wersjonowanie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A4E00-154E-445C-810A-009BB78C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A9FA0-4F92-44D3-A109-30B6D2B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82F42-BB49-4BCF-822F-2514E31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bazowe wagi zamrożone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mały zbiór parametrów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adapter jako artefakt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łatwe przełączanie wariantów</a:t>
            </a:r>
          </a:p>
        </p:txBody>
      </p:sp>
    </p:spTree>
    <p:extLst>
      <p:ext uri="{BB962C8B-B14F-4D97-AF65-F5344CB8AC3E}">
        <p14:creationId xmlns:p14="http://schemas.microsoft.com/office/powerpoint/2010/main" val="1014732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F3EC6-FE60-439E-B004-F1FA1506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0E974-630B-4210-9656-9155FC71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AFE8C-4934-4147-A6F1-CFD1F260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 uczy małą aktualizację, nie mały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9C902-315B-48CB-879D-01DDD3C0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64545-4A70-489E-8695-C3121D18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Model bazowy pozostaje duży. Mała jest tylko trenowana korekta ΔW.</a:t>
            </a:r>
          </a:p>
        </p:txBody>
      </p:sp>
    </p:spTree>
    <p:extLst>
      <p:ext uri="{BB962C8B-B14F-4D97-AF65-F5344CB8AC3E}">
        <p14:creationId xmlns:p14="http://schemas.microsoft.com/office/powerpoint/2010/main" val="1485911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6371F-BD00-42CB-A5C1-73254F8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697D-A791-4109-892C-E55D0F8D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8677-5833-4D2A-BE6E-35B0FD5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W′ = W + (α/r)BA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FFB22-2E7E-44A8-9EB3-ABA9DC61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F956C-1BD8-439B-BBAB-DF9471D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1B996-C61C-4383-BA23-1B364695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D68E9-36E0-4392-B488-7575273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28F8C-B929-4FC8-9C5D-D37315E3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ZAMROŻONE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3D2AC-1273-4F8F-9AB4-6339192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625DF-9A47-4F08-BFAB-164A159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waga bazowa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49637-7BD4-4A62-B324-0E7DE9F4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A9B7-37D4-40BA-99E6-4724F2D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TRENUJEMY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F7FBC-E828-4D44-A5E9-B0977A3B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·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5B4AC-EC11-4C52-80B5-DDD2391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 ≪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4617C-FC0D-4EB1-8D92-7924A74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62868-4C56-4C1D-914C-21C80BA0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SKALOWANIE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7DEEE-C27B-493C-A950-4A87F1E2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α / 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D73A8-B7FB-45AF-A2E0-DA4D54A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siła aktualizacji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BD0D0-E9D8-4F29-A605-733672C3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A31B1-654B-4E41-B2BA-79D74A74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WYNIK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F3F5B-1238-4C06-B5C2-376A570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C2A55-D663-4B80-82BC-A340035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waga efektywna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1D7E6-7BF5-4347-9C31-2D5AD448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Forward używa W′; optimizer aktualizuje tylko macierze adaptera.</a:t>
            </a:r>
          </a:p>
        </p:txBody>
      </p:sp>
    </p:spTree>
    <p:extLst>
      <p:ext uri="{BB962C8B-B14F-4D97-AF65-F5344CB8AC3E}">
        <p14:creationId xmlns:p14="http://schemas.microsoft.com/office/powerpoint/2010/main" val="806794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0C035-4EA8-4E9D-A9A9-F6C619F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645A-F2B4-4FE1-916D-88C7C05A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D5DAD-484A-4A6C-90F0-D805EC89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16: około 1,48% trenowanych parametrów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61441-0D39-4CD5-8427-9025805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238C9-199F-44C7-B0A9-0EACC72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 naszym Q1: 33 030 144 parametrów adaptera wobec modelu 4B widocznego przez pipeline.</a:t>
            </a:r>
          </a:p>
        </p:txBody>
      </p:sp>
    </p:spTree>
    <p:extLst>
      <p:ext uri="{BB962C8B-B14F-4D97-AF65-F5344CB8AC3E}">
        <p14:creationId xmlns:p14="http://schemas.microsoft.com/office/powerpoint/2010/main" val="15050059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54010-9F68-4FA0-AA64-C64C559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34D16-2B24-4A07-ADB6-4BA08CFA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F171D-04F5-4894-BBC1-69FAAAD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modules wyznaczają swobodę adaptera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7DE6B-E9D3-4E39-A9CC-01937DDE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DC6AC-9D24-4C74-95A1-EFD5F5F2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4BA1F-1502-4DB4-A45D-84EAAA6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q_proj — wybór informacji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k_proj — reprezentacja kluczy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v_proj — treść wartości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o_proj — miks wyjścia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4DB97-2999-4CEA-8667-2F2EAD2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E4489-FC17-46A2-BF05-9222A6D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MLP / all-linear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0C5D8-10DC-4A23-8CC3-1409F9A3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większa pojemność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więcej parametrów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szersza zmiana zachowania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większy koszt treningu</a:t>
            </a:r>
          </a:p>
        </p:txBody>
      </p:sp>
    </p:spTree>
    <p:extLst>
      <p:ext uri="{BB962C8B-B14F-4D97-AF65-F5344CB8AC3E}">
        <p14:creationId xmlns:p14="http://schemas.microsoft.com/office/powerpoint/2010/main" val="13379264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E85C7-300F-4B0F-A6F1-644759B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CCAF-D2AA-453C-B69B-8930D8F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2CAB-C35A-46BF-8863-0DBA9D9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Rank, alpha i dropout działają razem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8F601-E52F-475F-9F75-EF25393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1FCC1-E148-4868-B9E0-8304F62D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E5E3-6353-4CD5-B03C-81B144A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CA516-8791-4C66-A834-F1E38C9A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 reguluje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72EEF-3B37-46A4-960A-50EA5F7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520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65AD0-2C9A-426D-9819-40B80AC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Typowy błąd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75766-730F-403D-9B4F-BC2FC9A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72F33-771C-449F-BDD2-86BE26D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4853E-1C5C-4B8D-BDAB-04CF90B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67111-2EE1-4744-A280-A5D68F7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pojemność aktualizacji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D224B-6CB4-40BE-9CD2-703263E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557E7-4A87-4F5A-BFD5-C1EE666B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sweep bez danych granicznych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BB9BF-7DA6-4AA6-9433-6F5C0E23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C1936-6F78-4415-BC2B-950FFFCC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B5A1E-9868-46F4-B0D8-60CDB36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12E5B-B65B-4E2B-AB0E-8B80E273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86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skalę ΔW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6F37B-802F-4AE7-A4AB-19D7972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9F363-8A6F-4051-89D8-AB8590B6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kopiowanie wartości między modelami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DA89E-89F7-4602-97D8-6BCD922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EE49D-5546-43D4-9C9E-B3A1F23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4E297-93A2-4D58-BFAF-5AB8173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876C2-FBF9-4F25-88E5-D883E71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regularizację adaptera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2DD2E-FF38-4A86-8C35-FC9F0534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BA4AC-1EC4-43E4-B0AA-B398746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dodawanie go bez diagnozy overfittingu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B8445-6EF2-4840-A7F0-B501173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3EA9A-2AB5-4478-BB93-EA268BD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529E7-D17B-42B8-9D3A-26839FC3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3ACF1-9E64-4BED-A6A6-CF37BB14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punkt startu adaptera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69153-B416-4EF5-90ED-478CB0A5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43E230-BA7B-4767-A7E9-B896467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testu, czy adapter startuje jako no-op</a:t>
            </a:r>
          </a:p>
        </p:txBody>
      </p:sp>
    </p:spTree>
    <p:extLst>
      <p:ext uri="{BB962C8B-B14F-4D97-AF65-F5344CB8AC3E}">
        <p14:creationId xmlns:p14="http://schemas.microsoft.com/office/powerpoint/2010/main" val="10613072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C7E53-74FA-47F3-8D83-755A18B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BE4F5-007E-4191-AC80-508D977B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E7E51-7C1E-4854-9F02-8252771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 jest wersjonowanym artefaktem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A47BC-AE85-4918-9867-61B1BB4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00A12-7CDB-4461-8D15-E2747B8D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A6B05-4370-4F02-9A54-B10DB63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Trenuj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46710-A42D-49B7-A877-D2606CA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Zamrożony base model, jawna konfiguracja i hashe danych.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1FEA-DDB9-4C66-B0DC-5B3DA1B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9FA2B-4D78-45EB-A9A6-67229A2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4B0D3-92CA-4E11-BC68-7925980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37C66-4229-4FAE-B4D6-D988FBEA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Świeży proces potwierdza zgodność adaptera z modelem.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222BD-A077-4C77-9838-23B4D4FD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143C4-1EF4-4F3B-A4CB-8AA8E2D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8D010-6E60-4E6F-84E4-733136B3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 / merge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539D9-B203-4469-B3F3-F83DBF1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Przełączaj adaptery lub scalaj po bezpiecznym teście.</a:t>
            </a:r>
          </a:p>
        </p:txBody>
      </p:sp>
    </p:spTree>
    <p:extLst>
      <p:ext uri="{BB962C8B-B14F-4D97-AF65-F5344CB8AC3E}">
        <p14:creationId xmlns:p14="http://schemas.microsoft.com/office/powerpoint/2010/main" val="1020364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458C74-EC22-4FF6-B1B0-8793DDBD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ADC-8EFD-48AE-852A-910C0C6E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1A854-D261-4B52-9B37-7BA1026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Alternatywy mają sens przy konkretnym ograniczeniu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7BB33-5ED5-4BD5-920F-70C275B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180C4-B8AC-4C56-947B-8E819F9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Metoda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4A8F1-152F-4D98-89E9-CAA5CE89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29E93-A5F6-470A-B324-FFD2B17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431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Mechanizm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0F49A-8F87-4F5A-81A5-2B78790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39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0022D-166C-4A9B-BABD-378E4713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Rozważ, gdy…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57D78-2DD9-4D61-AFD7-CAF0C663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C744A-DEB1-4E61-A6D0-5358D91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rsLoRA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5606-9045-41C1-8B1E-C86E1900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8903-5BF1-4DC4-A808-D7DAAFF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skalowanie α/√r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53A65-125D-4BD6-BC48-FE2C298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539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5AA80-75F5-4E6A-B9D0-8A26F8E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wyższy rank jest niestabilny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E325B-4E9A-44C8-B79B-7C3B097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A9A98-434A-4C3B-BB1C-CA6AA01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56D5E-A5F8-4092-90F6-C901BB2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718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1286C-6F3F-47C5-A00F-498F5F6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861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osobno kierunek i magnituda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7C926-63A3-4F4A-BA32-CE5069F9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39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F0253-DA64-459C-9935-49ED3CD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 zostawia lukę jakości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33349-BB14-4D9B-913E-17FF003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F305D-625D-4FD4-99BC-8BD9AA8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AdaLoRA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46CA0-C34E-4C98-950C-A33E5F8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E90C4-31BA-4FDB-8F8C-499A564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alokacja ranku w czasie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4F718-887A-4AEE-B9F4-A643038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39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7A3FD-75A7-45B9-8E62-02DC074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budżet ranku ma być adaptacyjny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76906-CF25-4277-BE4B-65AF23F7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C3FF3-C4E4-498F-87DE-5D93C8E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IA3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221EE-C771-4D97-A9DF-16C08BA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910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CA778-74CE-40EF-9E06-BEC6601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053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wektory skalujące aktywacje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19D24-7070-435E-B74E-62D90AC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539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D92B1-7C83-4C5B-9BB3-7571988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potrzebny jest bardzo mały adapter</a:t>
            </a:r>
          </a:p>
        </p:txBody>
      </p:sp>
    </p:spTree>
    <p:extLst>
      <p:ext uri="{BB962C8B-B14F-4D97-AF65-F5344CB8AC3E}">
        <p14:creationId xmlns:p14="http://schemas.microsoft.com/office/powerpoint/2010/main" val="5866436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C404E-DC95-4A9A-B7ED-16D7C301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264A8-BBB7-440C-83E3-A478E736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LORA •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BF6C9-E0A0-4293-BB0D-9CDC1F51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DA4C-8C19-42DB-8143-6AD216C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Pięć pytań przed treningiem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617B-9C1C-42A4-BF5C-E398E1D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B6ED9-5E5C-4AC4-BDB0-2DFF498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Jaki błąd ma zniknąć?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Które dane są goldem?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Jak chronimy split?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 pozostaje deterministyczne?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Jaka bramka zatrzyma eksperyment?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7AE0-66A8-439E-9719-CE6DBDDA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Jeżeli brakuje jednej odpowiedzi, trening jest przedwczesny</a:t>
            </a:r>
          </a:p>
        </p:txBody>
      </p:sp>
    </p:spTree>
    <p:extLst>
      <p:ext uri="{BB962C8B-B14F-4D97-AF65-F5344CB8AC3E}">
        <p14:creationId xmlns:p14="http://schemas.microsoft.com/office/powerpoint/2010/main" val="7463396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12D1D-3E2E-4522-9AA3-2683BCF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7E1AA-9559-48E1-9AD1-02701F5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91C73-D0A9-47F8-BEE0-AAEFD695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QLoRA: 4-bitowy base, gradient do adaptera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0FB55-8DD2-4B36-85F8-F90DE6E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2E6C0-8C27-429A-83C8-77D87BA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6987-7927-4599-96B0-CB6E8671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D5C6-0EBA-4377-B2EE-95889EC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8D8AC-8097-4216-BD8D-84C550C0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A7410-DC51-464D-94EB-C9A6991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NF4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4165E-2A91-4396-BA77-6AB2F2A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zamrożone wagi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4E20-CBEF-40FF-807E-AFB570D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9AF3F-A4F2-416B-A9A2-2807206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69006-7242-471D-A90E-8E6887E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00F32-4634-4C97-8815-0A2BDFF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operacje forward/backward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81863-5CDF-4814-AD9A-6F0F6E3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D614F-2BB4-493A-B3C4-6D0603C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26B18-D0B4-4706-9EDC-7CE6838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6AF9F-C220-4026-8B05-5CE483C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 i B z gradientem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EF90-B741-4F11-942A-328DC15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CD6D4-01B2-4B2E-8119-EFEB8D01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28CB0-19AA-4345-987D-B6D75B2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014A4-11EF-42C3-8CD8-41CA011B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mały artefakt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28203-BD2A-4856-92F6-ABF9856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Kwantyzacja zmniejsza pamięć wag bazowych; nie zamienia całego treningu w int4.</a:t>
            </a:r>
          </a:p>
        </p:txBody>
      </p:sp>
    </p:spTree>
    <p:extLst>
      <p:ext uri="{BB962C8B-B14F-4D97-AF65-F5344CB8AC3E}">
        <p14:creationId xmlns:p14="http://schemas.microsoft.com/office/powerpoint/2010/main" val="5414098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330C6-74AC-454C-A413-8D3B1C0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AA804-172F-4FD3-A95B-837E76E0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7346A-5D3F-4101-86F7-B2441D01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Pamięć GPU ma kilka właścicieli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4EFC3-B7E8-4886-B8AC-6FF321D0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66461-D19D-4E38-9565-38FDC3F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WAGI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74971-5023-4FF5-8AEC-E04D8C0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+ LoRA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FC8C0-4BB7-4432-AA57-E60679E4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NF4 redukuje największy statyczny składnik.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9D161-3CC1-42B2-AC31-8093C14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74C49-2FB2-4A32-ADAF-D78D0478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A7EBD-0577-4D6D-95CF-F3F51541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Gradienty + optimizer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D6700-4D33-437D-84E1-0321B175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Dotyczą parametrów adaptera, ale nadal rosną z rankiem.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65E0D-225F-4692-8B41-0471C38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EE59B-746A-498D-B854-0467995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DYNAMIKA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15B3E-3CEB-4154-BCA5-FED9F14F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Aktywacje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799A5-A5FA-4605-A62B-AC83A9F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Rosną z batch size i długością sekwencji.</a:t>
            </a:r>
          </a:p>
        </p:txBody>
      </p:sp>
    </p:spTree>
    <p:extLst>
      <p:ext uri="{BB962C8B-B14F-4D97-AF65-F5344CB8AC3E}">
        <p14:creationId xmlns:p14="http://schemas.microsoft.com/office/powerpoint/2010/main" val="15272764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AC5E0-164A-4E30-B9DB-AC05679C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500EF-0A78-48F6-AA32-610302DA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53B98-B628-491E-9E82-D8B48CD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NF4 kompresuje bazowe wagi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2A8D6-6EEC-478F-931D-16772B77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849FB-0BFD-4AAC-9678-1859677A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 daje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83D5D-7093-4EAF-B98A-A32A036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4-bitowe przechowywanie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mniejszy footprint base modelu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gradient przez dekwantyzację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praktyczny trening większego modelu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D1794-D395-4A4A-A744-B91BF0D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BB6A9-1846-4FA5-9DAF-24E8928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Czego nie daje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4C2E1-1307-4A95-9705-5483AD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gwarancji jakości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4-bitowych aktywacji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zerowego kosztu optimizerów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odporności na złe dane</a:t>
            </a:r>
          </a:p>
        </p:txBody>
      </p:sp>
    </p:spTree>
    <p:extLst>
      <p:ext uri="{BB962C8B-B14F-4D97-AF65-F5344CB8AC3E}">
        <p14:creationId xmlns:p14="http://schemas.microsoft.com/office/powerpoint/2010/main" val="8605845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252B9-5FE1-47D6-BEA2-C5CCF52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A3F2C-4141-4526-A6E6-4B6D198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C4991-E0D9-49E3-8BCA-45D4B8A1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 quant i paged optimizer mają różne role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9A36B-01F5-4AD5-93D2-A2FA06C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8098D-9AC0-46A5-864F-53501D0B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 quantization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27856-5DA7-42DD-B464-2B94F482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kwantyzuje stałe kwantyzacji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oszczędza dodatkową pamięć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dotyczy reprezentacji wag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5FC2-60C2-4C5D-8B25-55A45BF9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EC797-9CEE-4F20-B8A9-9A432268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Paged optimizer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25EAE-6FC9-40C8-8054-D3F15B2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zarządza skokami pamięci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chroni przed chwilowym OOM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dotyczy stanu treningu</a:t>
            </a:r>
          </a:p>
        </p:txBody>
      </p:sp>
    </p:spTree>
    <p:extLst>
      <p:ext uri="{BB962C8B-B14F-4D97-AF65-F5344CB8AC3E}">
        <p14:creationId xmlns:p14="http://schemas.microsoft.com/office/powerpoint/2010/main" val="10639428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783B8-837A-438E-AE04-D34278A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B119A-2DD5-4BA3-8A32-A196C7C6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DA293-B563-4BB4-921E-F25D1271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 dtype ≠ compute dtype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19A49-619D-428F-A8AF-4664649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7F44F-3A01-465B-BAC7-C04E7640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 naszym eksperymencie: NF4 do przechowywania, BF16 do obliczeń, adapter jako trenowany parametr.</a:t>
            </a:r>
          </a:p>
        </p:txBody>
      </p:sp>
    </p:spTree>
    <p:extLst>
      <p:ext uri="{BB962C8B-B14F-4D97-AF65-F5344CB8AC3E}">
        <p14:creationId xmlns:p14="http://schemas.microsoft.com/office/powerpoint/2010/main" val="5678818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1992B-BEAC-49EF-96DC-3A062E8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70D23-1A59-4CCE-838F-CD99314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929BC-B595-48DE-8FF5-839EA44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Referencyjna konfiguracja mieści 4B w 7,55 GiB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6C96-AEFC-4030-8CDB-9E844D61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0675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4241-6809-443C-B904-43CFA2C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572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BitsAndBytesConfig(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load_in_4bit=True,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bnb_4bit_quant_type="nf4",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bnb_4bit_use_double_quant=True,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bnb_4bit_compute_dtype=torch.bfloat16,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LoraConfig(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r=16, lora_alpha=32,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target_modules="all-linear",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bias="none",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D14C2-2A33-42E5-9E28-88CAA85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 — pełny bieg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273EC-0B3A-4ACD-976E-EEF11C0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640 przykładów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240 kroków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88 min 22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7,55 GiB peak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 truncation</a:t>
            </a:r>
          </a:p>
        </p:txBody>
      </p:sp>
    </p:spTree>
    <p:extLst>
      <p:ext uri="{BB962C8B-B14F-4D97-AF65-F5344CB8AC3E}">
        <p14:creationId xmlns:p14="http://schemas.microsoft.com/office/powerpoint/2010/main" val="6078493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B47BC9-38B3-40AC-908C-4720F80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F689E-B0A7-4B6B-A6A0-4920B96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2E9A9-0C8B-4F44-B39E-34A8000C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Metodę wybieramy według ograniczenia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D4E25-EE77-4E91-9534-038015F2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D92CE-6093-4D4A-9EB3-08FCCC7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Warunek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FE88-E834-40CA-8B08-CEF049DD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FCC2-0C3D-440E-B128-8C601A1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Najpierw rozważ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8B216-DE2F-49FA-AFC8-9CFD93E2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81BA4-4E6E-415F-86BB-97C028D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Dlaczego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44FEC-6E31-4D96-9181-34175224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FC17-99A4-475F-A79D-0C3A1D0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mieści się wygodnie w BF16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656D0-3EC9-441A-BB18-FE77802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CE14B-3180-4C1B-A7F5-E3CF348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2B8F7-58F1-478A-9CE8-3CDF8F4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E3B07-42D1-4532-A4E6-97D7B6E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prostszy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8FDB2-8ADD-4E11-86BD-278E35AA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F6976-4F1B-4267-A7EA-6E7F9C21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model nie mieści się w pamięci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CC2DC-188A-44CC-B546-85B00D2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238B8-9C07-4C8A-8841-E5E9C53D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86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8DFF3-D997-4F1D-872F-47E65B2D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D3702-5B7A-44AC-8AD1-1C0F3460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4-bitowe wagi bazowe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EB084-0CBF-4E42-B695-69C7E2C7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32C85-31E0-4200-9734-015F67D7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Potrzebna jest głęboka zmiana wiedzy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8627A-A39B-44D0-A924-69207D25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7A51F-E08D-4FDF-80D3-0DEAC9A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FT / CPT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3F100-F78D-438D-BB96-AA13A38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3184C-845D-4F30-A072-CBD031B2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większa swoboda aktualizacji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46B76-2AB9-45C4-AAB6-8047C74D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C4C44-8B9E-4261-AABD-ED1FC93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Reguła jest jednoznaczna i policzalna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DA0BA9-0B57-4F01-8CD7-3D685C3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910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6D394-8870-4BC1-8293-0ED4E0D3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55F91-B90C-44DB-BAC8-5757A68B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0D43C-DF36-452D-8174-F4FCA997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deterministyczna gwarancja</a:t>
            </a:r>
          </a:p>
        </p:txBody>
      </p:sp>
    </p:spTree>
    <p:extLst>
      <p:ext uri="{BB962C8B-B14F-4D97-AF65-F5344CB8AC3E}">
        <p14:creationId xmlns:p14="http://schemas.microsoft.com/office/powerpoint/2010/main" val="13816273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BD444-21F5-4017-A2B5-A89B1932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PRZERWA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017BF-1445-4C88-9D18-D43B4C8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8FEF5-2C31-41B5-8594-49920331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 minut przerwy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8FF3B-2526-4ADF-8401-027F965A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0F991-26C4-4065-8DD8-B93810A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Po powrocie: dane, trening, benchmark i decyzja FC-209.</a:t>
            </a:r>
          </a:p>
        </p:txBody>
      </p:sp>
    </p:spTree>
    <p:extLst>
      <p:ext uri="{BB962C8B-B14F-4D97-AF65-F5344CB8AC3E}">
        <p14:creationId xmlns:p14="http://schemas.microsoft.com/office/powerpoint/2010/main" val="1969047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E1B54-2A76-4353-8200-0284578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6BD03-8958-4F68-9D30-56118A4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617A0-A565-4B10-BC78-EFBF5D9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jest jedną warstwą systemu bankowego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7325E-2EE9-4175-BCB3-9087B3D0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04C41-95EA-490A-8127-888E87E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1ECE-7B54-44B0-990C-8985D931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B9B4E-E253-4A3F-A583-647D06BC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497F9-EC4A-44A5-9CCE-CD51599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FAKTY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D5B44-ED08-4883-93AC-5E9A25C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2D16C-DF82-4BFC-9841-D5DB13EB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procedury i źródła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40588-3971-4D35-BD8B-362AFDB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BCA69-47C4-4BB9-9B0C-C4A90BC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LICZBY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C2FBE-3FC1-4B53-8847-22198A9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853C8-4BF5-4D24-B8CC-BD9F7B2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Python /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AEC28-3A16-4035-B19E-B857DBE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66C2A-0B79-4AC8-8DCA-06446F3D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JĘZYK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BFD38-9F00-46B0-8AE9-30DF0C5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+ 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69DA1-E7C9-481F-B004-6F66AE9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status i ustalenie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F69C9-3A0A-4A89-BC49-9616E6C4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77B76-8B2C-4135-BB69-928F57D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AA5C9-9150-475F-9C66-42EFD4BE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Człowiek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2B34D-D8A5-4B23-A2D7-99E9867B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review i decyzja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58879-9C2F-4965-899E-0F1D44FD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Każda warstwa ma odrębny kontrakt, metrykę i właściciela.</a:t>
            </a:r>
          </a:p>
        </p:txBody>
      </p:sp>
    </p:spTree>
    <p:extLst>
      <p:ext uri="{BB962C8B-B14F-4D97-AF65-F5344CB8AC3E}">
        <p14:creationId xmlns:p14="http://schemas.microsoft.com/office/powerpoint/2010/main" val="15714823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B97A61-C5B8-4839-9153-6A21A0FD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18557-D9A9-412A-8B74-FCC719B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ACC41-48F1-474F-A99F-F279E3CA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Pięć statusów rozdziela różne sytuacje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F0089-F40E-4AAB-9F6A-9B0F9B5D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43395-E74C-4A18-AE85-A6B2497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7BDB1-271A-47D6-BD73-2153AADF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586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3A28C-DD03-4FED-B49E-D4DF0C4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Kiedy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D4A1A-7EF8-46E3-B8B4-85B3C1B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5C7C9-D718-458F-A631-36EC38B6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B319B-92C5-45D8-8C1C-0D5AE69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58919-B4DE-4094-BC59-1664715D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A1A7-1CE6-4581-86C4-EB6186C5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586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F2A21-E49C-447D-A1F1-76B6C661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kompletny materiał, wymóg spełniony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26F76-F625-4944-9B2A-9EC84995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FD2D7-007E-4F82-AF26-44A3D5E6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46BA0-D246-4DF7-B698-CFD3E20D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D05A0-BFF1-4EF2-AFDE-C6102563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A6A83-3C09-43B6-B9F3-76DEAC5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71800"/>
            <a:ext cx="586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E1B82-7DAB-4EFA-9DD0-DBFC016B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konkretna częściowa lub niematerialna wada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D3D72-BC27-4EFA-A423-C961B553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77C43-480D-47EE-887A-86248FC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5889A-8656-43FE-92BF-1528CB3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358F5-3593-4D6E-8F17-750A4B3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B3013-BF5F-457F-A621-7DCD2CA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81400"/>
            <a:ext cx="586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04CB5-F4DD-49F9-B17F-27A27A4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957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potwierdzone materialne naruszenie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017DD-DD42-4BF9-9659-41F31798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E3119-CC35-4054-915E-8BD78848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957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23332-51E9-4B30-A9A4-B63E8F1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F62E24-E814-4DC2-AE66-83760CD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INSUFFICIENT_DATA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1A142-082D-442B-A6C6-1B993E1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91000"/>
            <a:ext cx="586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F4C2A-D38D-438D-A1A5-00A673A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053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 ma zastosowanie, brakuje dowodu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81F75-0279-491B-9A61-7AF1053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910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D648C-316D-477F-804B-0E478BF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A0246-47C4-49A7-8E64-22206CA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4AEEBF-5FD5-418A-A553-7814817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NOT_APPLICABLE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9C5EB1-BB5A-4D1F-9894-CA1F0E1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586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DA3837-B599-4D52-A18B-DE0ACB1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triggera lub obiekt poza zakresem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33A4D5-3B5A-48A9-A239-DF76A7B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006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DE0E6-0CB8-48D8-8179-104A5469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6645215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1D1C5-F97E-482D-82E8-2FF38386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5A3B0-132A-4E80-AFCB-55FE81D4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90BCF-391F-46DD-A580-E1AA93D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Losowy split rekordów może przeciekać semantykę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70CF-B5AD-4780-8705-23B50B3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C5399-2F56-462E-81B4-08A41BB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752DD-6D3D-4072-A94C-68DB178F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parafrazy po obu stronach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ta sama tabela w train i 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mutacje tego samego błędu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zawyżona pewność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84598-4920-48B0-94B0-1F2F26E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924AE-FFB7-4F43-BB3D-188DF62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72180-B32E-4949-AFC5-2466FF7E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rodzina w jednym splicie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nowe wartości i sformułowania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jawna provenance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chronione testy</a:t>
            </a:r>
          </a:p>
        </p:txBody>
      </p:sp>
    </p:spTree>
    <p:extLst>
      <p:ext uri="{BB962C8B-B14F-4D97-AF65-F5344CB8AC3E}">
        <p14:creationId xmlns:p14="http://schemas.microsoft.com/office/powerpoint/2010/main" val="12453238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44B5F-3555-4569-A0C1-F5295F7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83E40-5D8D-4C8E-8A16-DD6EDE45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68AD5-520D-40C0-8B0D-DE10E4F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Jedna przesłanka powinna zmieniać jedną decyzję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795B6-8DE0-4946-BEA8-FDAAB246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AABCA-F6F0-476E-B600-953501E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5A90E-77BC-44E6-A820-B1CD9DF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0,4 mln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F7B8B-6174-41D7-BD38-4F061166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Różnica mieści się w tolerancji zaokrąglenia.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68879-5E5A-4905-B324-96F66246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2B771-48D5-45EF-B707-B60C3FE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9176A-C3C8-4F1F-ABA6-E922632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1,4 mln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7CDCC-AF76-4337-A022-E591CAE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Wada istnieje, ale pozostaje niematerialna.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DDF2E-A5ED-4878-A799-A477F335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CC941-2E55-4124-9DA8-430DC861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B481B-30B1-4F99-97CC-E5200AA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 mln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EEE62-85AE-49AA-AF38-1BFCFDC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Przekroczony jawny próg materialności.</a:t>
            </a:r>
          </a:p>
        </p:txBody>
      </p:sp>
    </p:spTree>
    <p:extLst>
      <p:ext uri="{BB962C8B-B14F-4D97-AF65-F5344CB8AC3E}">
        <p14:creationId xmlns:p14="http://schemas.microsoft.com/office/powerpoint/2010/main" val="2320859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E682E-7845-4EE4-8393-89B2059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6FD66-616A-4FAE-91F7-1185565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BDFAB-E9DE-4099-B89E-34DCD12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Dobry JSON nie oznacza dobrej decyzji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a6189e0494c3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C3BB7-6867-4BEE-BBA1-0B8127A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40576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FD455-B523-4C48-8B31-DBE4465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 0.6B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89C0D-2DE0-4BBE-871B-45E7C82E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467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format poprawił się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status pozostał słaby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bias do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metryki muszą być osobne</a:t>
            </a:r>
          </a:p>
        </p:txBody>
      </p:sp>
    </p:spTree>
    <p:extLst>
      <p:ext uri="{BB962C8B-B14F-4D97-AF65-F5344CB8AC3E}">
        <p14:creationId xmlns:p14="http://schemas.microsoft.com/office/powerpoint/2010/main" val="1078309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135F0-6EA6-4234-A007-463D021E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329BD-27EF-4518-8D4D-B21ED51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06166-BDF1-4C73-959E-EF3ADE4D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Q0 vs Q1 izoluje wartość boundary data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1BD8F-DADB-41A0-9480-59FABB11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DD03E-A386-4242-8E3B-7CC0625E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6EC5A-E3B1-40C1-9E0E-BC46A5D8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400 standardowych przypadków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ten sam model i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rank 16 / alpha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bez boundary 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06EBB-EB09-41EB-BEF4-8D6FA66E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4F4A4-FA35-4A04-A98E-2DF44B13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17568-88A6-4DFB-B2C2-5983F4E1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400 standardowych + 240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pozostałe warunki zamrożone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różnica mierzy dane graniczne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selekcji najlepszego seeda</a:t>
            </a:r>
          </a:p>
        </p:txBody>
      </p:sp>
    </p:spTree>
    <p:extLst>
      <p:ext uri="{BB962C8B-B14F-4D97-AF65-F5344CB8AC3E}">
        <p14:creationId xmlns:p14="http://schemas.microsoft.com/office/powerpoint/2010/main" val="9375944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52EF5-EC12-4C05-9D9F-0115689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A5D6F-2A0D-4CF9-9399-7C048F3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DANE • WARSZTAT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B287-6F75-41CC-9137-C3007725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A5CDA-E926-4CBC-B1E6-295DAB0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Znajdź przesłankę, która zmienia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2200-A791-4A5C-844D-ACF6B3DC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21636-A123-48E9-81E5-AA98354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PASS → WARN: tolerancja przekroczona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WARN → FAIL: materialność przekroczona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N/A → brak danych: trigger pojawia się, lecz brakuje źródła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991AE-C56B-4F41-A0BA-D5CF372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Najpierw wskaż przesłankę, dopiero potem etykietę</a:t>
            </a:r>
          </a:p>
        </p:txBody>
      </p:sp>
    </p:spTree>
    <p:extLst>
      <p:ext uri="{BB962C8B-B14F-4D97-AF65-F5344CB8AC3E}">
        <p14:creationId xmlns:p14="http://schemas.microsoft.com/office/powerpoint/2010/main" val="16708893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DE8D4-BCC5-4C6E-8BE5-15FB5CB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DEA07-5F34-4C24-A34B-1DDBA9F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2DD8-784B-4928-ACF8-5655F7D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 potwierdziło pipeline w 114 sekund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2ADB3-EDDC-40DE-AAE6-60D0295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D0F4B-F58B-4E47-9B64-AFB482DC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E3D44-A3F3-4503-8369-8D80918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 kroków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A4D62-EA9D-462A-9595-804E60E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50 przypadków, rank 8 i realny update adaptera.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80CFF-CC53-41CB-A0D1-9166B88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31CA-5A20-4B52-8FE1-1A193A6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49022-F0FA-4243-95C9-20FA38E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7,487 GiB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7AF8C-356B-471A-9C05-9D958422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Zero truncation; wagi adaptera 33,1 MB.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08B02-9EF1-40B5-90B9-6883DF5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A49EE-D835-4469-85CB-4F57B34F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EE1F9-2913-470E-84BD-B665443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 1/1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47AB6-8C2E-46BD-A848-52CE909A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Przy 384 tokenach: JSON, schema i źródła 100%.</a:t>
            </a:r>
          </a:p>
        </p:txBody>
      </p:sp>
    </p:spTree>
    <p:extLst>
      <p:ext uri="{BB962C8B-B14F-4D97-AF65-F5344CB8AC3E}">
        <p14:creationId xmlns:p14="http://schemas.microsoft.com/office/powerpoint/2010/main" val="8946669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3BAD2-0A31-42D0-881E-06FDBAB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4E73B-30DA-4C18-9E06-196B698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B614B-6DB6-4215-A35E-54D7886C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Trening obserwujemy w trzech warstwach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3B47E-6D5C-43DD-BF41-0C29E12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D885B-BDCE-453F-BA8F-E1048A5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UCZENIE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73227-9FE1-4F80-A0A9-C5D422B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 + gradient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0F0BD-3572-4FF8-8495-07A2BCD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model faktycznie uczy się i czy gradient jest stabilny?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0B5C8-BCFE-4FE6-8A11-B7D9AA8A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24FEC-BE6F-459D-8A32-162AD03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ZASOBY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50B03-8BFC-4CB4-AC79-75C09B82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VRAM + czas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1D9FD-2885-42F8-BD3B-3341400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bieg mieści się w budżecie demonstracji?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1199-1909-4C3F-8986-B63F8E7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62295-E2F9-405C-A011-1A8C5C1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E976D-33C8-45BE-91CF-31B31C9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Truncation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96CD0-7570-4B86-8B48-702DCDB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prompt i gold nie zostały ucięte?</a:t>
            </a:r>
          </a:p>
        </p:txBody>
      </p:sp>
    </p:spTree>
    <p:extLst>
      <p:ext uri="{BB962C8B-B14F-4D97-AF65-F5344CB8AC3E}">
        <p14:creationId xmlns:p14="http://schemas.microsoft.com/office/powerpoint/2010/main" val="7723038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A885C-62CE-411B-A535-0D5AA38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A4138-7ACD-4D93-94D6-B5CFAA7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751C7-C422-4588-A327-E49D257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 zamraża warunki eksperymentu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81DC5-F258-40B8-9C7D-FCC8426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0675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27D7-CECD-4488-A0AC-51EF63F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572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model: Qwen3-4B-Instruct-2507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quantization: NF4 + double quant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compute: BF16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LoRA: r=16, alpha=32, all-linear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train: 640 cases, 3 epochs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effective batch: 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max length: 1728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loss: completion-only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truncation: forbidden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3E19D-E135-4946-A9E3-1E04C15D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Dlaczego to ważne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D5442-0C42-4348-844D-F5B017DE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Q0 i Q1 różnią dane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test pozostaje zamknięty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prompt inferencji ten sam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adapter-only checkpoints</a:t>
            </a:r>
          </a:p>
        </p:txBody>
      </p:sp>
    </p:spTree>
    <p:extLst>
      <p:ext uri="{BB962C8B-B14F-4D97-AF65-F5344CB8AC3E}">
        <p14:creationId xmlns:p14="http://schemas.microsoft.com/office/powerpoint/2010/main" val="9488635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19802-5C94-4224-AD9A-F11B2501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754CB-93EA-4E99-9470-EE804821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886BA-9399-434F-8199-712EC0E9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8: 33,1 MB. Rank 16: 66,1 MB.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05CB7-C5A7-41E5-8641-F8EBF60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61BF-8A9D-4F72-9B0E-8879B20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 i pełny Q1 pokazują niemal liniowy koszt ranku w rozmiarze wag adaptera.</a:t>
            </a:r>
          </a:p>
        </p:txBody>
      </p:sp>
    </p:spTree>
    <p:extLst>
      <p:ext uri="{BB962C8B-B14F-4D97-AF65-F5344CB8AC3E}">
        <p14:creationId xmlns:p14="http://schemas.microsoft.com/office/powerpoint/2010/main" val="9067292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DF377-6921-47FD-AA89-34E7235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E792-135C-4857-987C-877D8B74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B932D-15F1-4219-8E8C-916B9401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 jest testem; merge jest decyzją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0E0FB-7313-47E0-9B27-CE5A7C5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18239-D59D-429E-B967-5BAAAC5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 osobno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B5416-81D1-412A-98CD-6E9D6FB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łatwe przełączanie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mały artefakt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jawna zależność od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więcej elementów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8EF3E-41BF-4211-BAB9-30C18F5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A11C-D616-4BB9-9A8F-20CA37BA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merged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13042-C955-4BE5-8591-61D037DB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prostszy serving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duży artefakt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trudniejszy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wymagany safe merge + reload</a:t>
            </a:r>
          </a:p>
        </p:txBody>
      </p:sp>
    </p:spTree>
    <p:extLst>
      <p:ext uri="{BB962C8B-B14F-4D97-AF65-F5344CB8AC3E}">
        <p14:creationId xmlns:p14="http://schemas.microsoft.com/office/powerpoint/2010/main" val="156126711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2612F-B4A8-49DD-B5EA-E5A5AF4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D82ED-2E55-4C28-8C88-237BB17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E7916-F008-4A70-BA68-9FC61652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 odpowiedzi jest częścią kontraktu demo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1E0E0-0B6D-48E8-AD8E-B5ABECF3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C8FD2-43F9-4B68-937F-83C7BA39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128 tokenów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3B2A6-A7E8-4AA0-9F8E-832A0746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Za krótko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3B369-1362-4595-8C98-9E72AAE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JSON był poprawny, ale schema niekompletna.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ACBDA-FA28-481C-B82F-92709095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75F4E-ADBB-4918-BB16-A8DB18E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384 tokeny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F183D-A701-471D-8013-9D22098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Kontrakt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A3946-F79B-4F06-ADD2-48B42D4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Reload 1/1 przeszedł JSON, schema i źródła.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CCB8B-E0D8-4F8A-A1CC-4AECE78B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3093A-8CAE-4ECA-B0D0-0731F136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DC795-7A6B-44E1-8085-739C30F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Przełącz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BE612-D79E-4C2D-9AF2-7232B81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Gotowy log + pełny Q1 + referencyjny adapter.</a:t>
            </a:r>
          </a:p>
        </p:txBody>
      </p:sp>
    </p:spTree>
    <p:extLst>
      <p:ext uri="{BB962C8B-B14F-4D97-AF65-F5344CB8AC3E}">
        <p14:creationId xmlns:p14="http://schemas.microsoft.com/office/powerpoint/2010/main" val="15225905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13136-F07F-4F2C-92E1-2263A52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E478C-7E69-4227-B650-A7C678D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EECF8-32B9-4838-B6A5-CBCA47D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Jedna metryka ukrywa koszt błędów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B836-59BA-4EC1-8E69-D0DBC53A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48E34-77D7-49EC-B84F-8C783E70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JAKOŚĆ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7239C-6BA9-4D69-8AF7-BDB3F393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7645E-6E05-42BA-AABD-3540664B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Równo waży klasy, ale nie zna kosztu biznesowego.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F7066-E9D5-4AE5-BE1D-4BFA368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9B387-BE70-4151-9B1C-D8735FC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GRANICE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B9944-84AE-4E1B-B305-D83903A8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7E4B5-359C-4A68-9568-9C25E13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model reaguje na jedną zmienioną przesłankę?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BC9CA-D702-4B4C-9C83-633C99F6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EB0F7-81E5-46CD-BA4A-D827AC1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RYZYKO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BD9E4-1C3A-493C-8C7D-7B66F2E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Unsafe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23DAF-233A-42EC-AD94-97449D2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brak danych lub błąd został zaakceptowany?</a:t>
            </a:r>
          </a:p>
        </p:txBody>
      </p:sp>
    </p:spTree>
    <p:extLst>
      <p:ext uri="{BB962C8B-B14F-4D97-AF65-F5344CB8AC3E}">
        <p14:creationId xmlns:p14="http://schemas.microsoft.com/office/powerpoint/2010/main" val="141503308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5BE9-3B9F-4BB6-936F-1DAB8B5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3656-AE19-48F4-8EC2-F2FF5E16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C6749-D039-4CF7-BE25-E4FCB100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data zmieniły wynik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37e684ec834cb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6B9AF-889F-4DE1-BD9C-E3254CF1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40576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13276-D407-434C-868B-6808D8C0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 vs Q0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87D3E-C8BF-49FE-A24A-C058D0C3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467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+21,4 pp macro-F1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+38,3 pp par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0% unsafe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ten sam model i prompt</a:t>
            </a:r>
          </a:p>
        </p:txBody>
      </p:sp>
    </p:spTree>
    <p:extLst>
      <p:ext uri="{BB962C8B-B14F-4D97-AF65-F5344CB8AC3E}">
        <p14:creationId xmlns:p14="http://schemas.microsoft.com/office/powerpoint/2010/main" val="34769960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56CCD0-73AB-4AF3-9BC5-D7374A9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5FA0-FEDD-46DF-8DC1-4B9D6197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E20BB-9657-4C16-AF4F-37F4BCB4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Trzy seedy potwierdziły łatwe validation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D171D-C60C-49C2-B14F-DE44497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0094D-E4A8-4EC7-A308-05158F2A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309AA-AF54-4B5E-B43F-4B36FA9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1CB68-E695-4659-83F6-2D59BC1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039A9-EBDF-48CC-870E-C0E08F0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46C5-4E23-47C5-8A4E-874D7975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CDA07-7442-4F94-8427-63787A1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91857-76AE-4A53-BF33-0B9C0120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A1A43-0EE1-4522-86E8-DC444B21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1F142-DAE1-4D04-9E8B-099AC2A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D81BD-B53D-42C8-89C0-FA1D7DE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7BFD0-C554-46B0-A211-374A24EA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20260827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1C280-F53A-4F1B-80D6-E46DDAB8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239D5-F70D-4369-8EEB-1002D0B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2E0BC-1717-420A-A503-1A18C0EB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FDF3E-4073-426B-8593-A12A86A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539B0-38C1-4544-B196-57D1610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5A42F-1146-4C9B-996E-3578C65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94,0%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FE123-70E9-4CBE-AA6D-79D418D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398C6-C197-4DEB-BBED-400CBAC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100,0%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2E731-B984-4C80-A11C-40FE6CA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9A2B1-496B-418A-96FB-B2B47BC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20260828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9E01B-13FC-469B-A000-96A780E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BC000-C7C3-4F6A-875F-CAFD3AAF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0AFFE-295E-426C-B036-A8556E2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CB444-96D4-43E3-9E05-AB4851AB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43093-4457-4CEA-9155-60BACC6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0180A-3B27-4F75-9385-E2535DA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94,0%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817CA-138C-45D8-B993-C3267F38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CB1B7-C3E1-4BFA-A5A2-7E6E9BF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99,2%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D198C-F542-4525-A424-86CC5C0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5E890-EFFF-47AF-B6BC-89426F0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20260829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3EB933-B8AF-4C63-A758-3736C7FC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18BD12-63F3-4B38-A7B6-ABCCB5A9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81F78-8502-4111-A424-B601E79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B15174-C3ED-4C03-AFFD-CB016B4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F876D0-D46D-4E5A-B758-9928E3EB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A4F65F-A9E5-489C-87D9-84EAAA04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98,0%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DECB23-04D5-4A63-A7F6-880CC75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DB95D-2B6B-4167-A975-1CCF9D25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100,0%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1FE269-2EC5-4247-A648-99DCF28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Perfekcyjny wynik na danych z tych samych rodzin generatora nie jest jeszcze dowodem generalizacji.</a:t>
            </a:r>
          </a:p>
        </p:txBody>
      </p:sp>
    </p:spTree>
    <p:extLst>
      <p:ext uri="{BB962C8B-B14F-4D97-AF65-F5344CB8AC3E}">
        <p14:creationId xmlns:p14="http://schemas.microsoft.com/office/powerpoint/2010/main" val="77155426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7ECD-BA4C-4C0A-99D7-8E903B19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E5149-B4D1-49B8-83A6-2B8DF14A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546C-88D8-4BD0-9083-D77F7759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v2 naprawił kontrakt, nie decyzje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5a2cabedbe455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596F9-D049-4862-8F93-949573D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40576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BB409-0EE3-481C-A68D-D6258A8A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 naprawiono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65823-0D61-4831-BCB6-BB65411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467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status → severity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source_id 100%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injection suite PASS</a:t>
            </a:r>
          </a:p>
        </p:txBody>
      </p:sp>
    </p:spTree>
    <p:extLst>
      <p:ext uri="{BB962C8B-B14F-4D97-AF65-F5344CB8AC3E}">
        <p14:creationId xmlns:p14="http://schemas.microsoft.com/office/powerpoint/2010/main" val="5118501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DD0B96-E6BB-42F7-93C8-E87A2C1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FCFE-4392-4898-9B32-A8F10D5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B0547-2A75-4A8D-9D68-089705F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Błędy mają różne przyczyny i różne remedia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B8DD-2689-425D-A93C-7E1A630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5609-A0B7-43DE-AFCE-C88947D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730D-15D7-47B9-8CFB-A8E77C2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3C7E-BA12-4C7E-815A-4BD84385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43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Błąd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E211-7915-4C1E-8244-8D35DE4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FB79-D7CA-4EAF-A177-04A1487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CB02B-EF73-4F1A-AEC7-45D7E5F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CFBD3-7829-4B09-B256-95E27AD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Warstwa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FBAE-2436-4C20-BB37-805D188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557A1-CBA6-420A-9CB6-83396D6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FC-209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AD156-64DE-4761-B71E-5560CB8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526EE-72BD-4DD1-A4E8-5A047FD5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3×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32D8C-CE61-4E19-A1A4-044EEF0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660A1-FC5E-4FF3-87E5-715208C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odwrócenie 27 &gt;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CBB27-6602-40AD-A1BE-73E712F7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184AC-9ED2-4A83-AD4B-69906DA4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deterministic 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340BA-3F11-4BF3-8B63-0C0D290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94B21-6C7A-43BE-A16E-BA4CBAE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85F82-E3B8-4D0B-B37D-74B60A6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45648-E434-4A74-B98F-D5D4624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1× WARN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ADE07-9090-411E-B663-3BE0061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28EDA-51C6-4612-9152-D33F036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pominięty zakres jednostkowy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53C9C-EB02-495B-AD00-8158775F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7BC7C-9A87-42FB-8B90-8CAA7B4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/ dane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4EF0F-7793-4C99-B786-CC3278B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92EB7-EE9D-42FE-92D6-BD581E9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9FFA1-FE27-44A1-B41A-3FD0BB79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814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6507A-5112-48B1-941F-2773263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1× WARN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42BBB-4EA0-48D9-805B-DDAD67AA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89B98-2B04-4A20-982A-0C439E6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przeoczone jawne wyłączenie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983E8E-D606-4432-8F8C-590AC3E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F88F9-885F-464E-9F30-9FE2810A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/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5C9CB-2FF5-4082-AC19-2714AFA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DBAE6-1BFF-4675-968F-5ED266FF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ACAE0-09CD-451D-A929-93AB78D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910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39151-2FED-4823-B2EB-66BD89F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2× WARN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6A424F-3EAC-4725-B50F-598EA8A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D63C90-BEA4-4540-9EB3-772A976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pliku ≠ częściowa wada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04E2F0-C48D-43AD-9203-AED2F0B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2FF513-8533-47F3-B90C-00EC6D1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14F6EE-D9DA-4170-9D6B-1DB1E59E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44BB5-BFF5-4F0F-80A0-C929917C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08043A-B179-4E3D-867A-61E19AE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AD7EDB-389A-40C5-9C69-573E4BF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2× WARN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A2D818-4832-44DD-8EF5-4A209BB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E069B1-8636-4FCE-BD75-D5A6AD8C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dokument poza zakresem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4B5B5-EAA9-429F-829F-7D0ACA9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808E34-3886-4A7C-84E6-81D04532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policy</a:t>
            </a:r>
          </a:p>
        </p:txBody>
      </p:sp>
    </p:spTree>
    <p:extLst>
      <p:ext uri="{BB962C8B-B14F-4D97-AF65-F5344CB8AC3E}">
        <p14:creationId xmlns:p14="http://schemas.microsoft.com/office/powerpoint/2010/main" val="17773500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9B133-D883-4F34-8E56-C36887B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5AC6-B8C1-49A3-AEAC-E03367F9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F27D0-F252-4276-9C1F-2DD24DD3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FC-209: 27 &gt; 5, ale model zwrócił PASS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5B874-EB7F-4CD3-B775-3A45491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693C6-B262-4059-BDD6-B3C9C1F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Obliczenie, JSON i source_id były poprawne. Błędna była decyzja o materialności.</a:t>
            </a:r>
          </a:p>
        </p:txBody>
      </p:sp>
    </p:spTree>
    <p:extLst>
      <p:ext uri="{BB962C8B-B14F-4D97-AF65-F5344CB8AC3E}">
        <p14:creationId xmlns:p14="http://schemas.microsoft.com/office/powerpoint/2010/main" val="14531388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C5604-DA01-4DA6-8501-9A8F82B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CD581-EA5A-4AD9-8374-8D5AD96E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3EBE4-49AC-49A4-A0B0-849D616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 blokuje sprzeczność, nie naprawia odpowiedzi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522A-CE22-42FC-9C96-91DCACC2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8B839-3C9F-47FC-AF30-53F50F6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30ED-D925-4083-9185-9B6A945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B70A-5E95-48E0-A332-B15FFAD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1A51C-AEA0-4E18-BFEF-7E711E8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8ADE6-E544-4CC4-B162-272B179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7CA0F-9502-44C0-923A-20E643F7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calculation=27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12750-CC20-4745-9225-EB8FBF9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1E9E7-FC8D-4B5B-98DC-1B782C93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CF353-486F-4F85-8836-77A78A4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 &gt;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6F730-4C96-4C8E-9E87-873956B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wymagany 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8BD7C-FAE8-4E5B-9E38-A4C57C9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33879-F39C-4161-B318-8CFE171C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9A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9A24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7B40B-538C-488B-BEB0-65976B7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98E87-3684-471A-B58C-DB72A8D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bez silent 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13610-E25D-4F46-B19D-65FCA30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81FE0-5DC3-4961-8CB8-5DDEC2B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ED09F-A8A5-40D7-8755-AC9E159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05013-3BDB-450A-96DC-DBB466F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decyzja i audyt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3E48F-39EF-427A-8A22-CD59E20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Reguła powstała retrospektywnie: zwiększa bezpieczeństwo demo, ale nie otwiera protected evidence.</a:t>
            </a:r>
          </a:p>
        </p:txBody>
      </p:sp>
    </p:spTree>
    <p:extLst>
      <p:ext uri="{BB962C8B-B14F-4D97-AF65-F5344CB8AC3E}">
        <p14:creationId xmlns:p14="http://schemas.microsoft.com/office/powerpoint/2010/main" val="10908720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06F7F-BBCD-4970-8540-8D42B82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1644-E82C-4D59-83D5-BAAD47B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BENCHMARK • WARSZTAT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3BAF2-DF47-410F-AC35-2D9E6CF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1CBD8-7346-49B8-B3CC-7792BD0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Czy otwieramy protected evidence?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0703-8A8F-4A70-BCE4-8A3650A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EA130-C78D-46DE-9C93-F69E2A8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Validation: 1,000 F1 dla trzech seedów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Diagnostic: 0,834–0,949 macro-F1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FC-209: trzy błędne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Guard powstał po analizie diagnostic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419C8-92C0-40F5-87CD-FBB64FFA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Mini-komitet model risk • 5 minut • decyzja + uzasadnienie</a:t>
            </a:r>
          </a:p>
        </p:txBody>
      </p:sp>
    </p:spTree>
    <p:extLst>
      <p:ext uri="{BB962C8B-B14F-4D97-AF65-F5344CB8AC3E}">
        <p14:creationId xmlns:p14="http://schemas.microsoft.com/office/powerpoint/2010/main" val="102738261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BE0C4-36C6-4EBF-A485-2DE4086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F3374-651F-48BC-AEA7-57689FB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D03C-2FBE-4A69-99F9-6C6DEF1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Portfel use case’ów wymaga różnych barier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CB79-CECE-48F5-9D0D-0E98292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220A-F944-4D83-B9AA-31C483B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NISKA KONSEKWENCJA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C5E94-AAA5-4860-BB07-AF0AC54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Redakcja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254D-D84D-4F4F-84BC-2485F749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Styl, format, klasyfikacja dokumentów i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E557A-60AB-4AB6-9C03-550A2DD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4319-643D-4E37-9267-DAC1E03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ŚREDNIA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9B70D-8928-49F9-9C44-750C1F3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AD5BC-E9B6-403F-8F58-45F752E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Ustalenia, kompletność i triage z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591DF-9498-4985-B417-A7600A65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F7699-97CD-4A4B-A5D0-94D732B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WYSOKA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F6049-CAE5-4D84-8DA2-41CC48A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3B20-FACD-4C9D-8987-15D61636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Kredyt, AML i raportowanie — mocne ograniczenia i właściciel.</a:t>
            </a:r>
          </a:p>
        </p:txBody>
      </p:sp>
    </p:spTree>
    <p:extLst>
      <p:ext uri="{BB962C8B-B14F-4D97-AF65-F5344CB8AC3E}">
        <p14:creationId xmlns:p14="http://schemas.microsoft.com/office/powerpoint/2010/main" val="162113951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7BF4A-DC74-46E9-8678-7CA5A271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9A10B-5400-48EA-97A0-C89CAE8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2646-9E0B-4999-B448-3460169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 to tylko część model risk management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A356-8FFB-405F-B220-8C2F8BA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99E3D-A2DC-4A94-81B8-F632C28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4139F-34D2-4AED-818C-48F64875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Kontrakt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CD9C9-81D9-4567-B25C-D4DFBA4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Intended use, status policy, dane i koszt błędu.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40502-6B8C-4B2B-AB58-1230BF18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AE408-F7E6-4BBD-B4FC-939B7F32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100C5-F33C-4A91-BDD1-F45367B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94647-D486-4C53-897F-2F0E273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Seedy, splity, review SME, regresje i guardy.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FD45F-CD4B-4E7C-838F-BBD4680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1E86-D899-49D3-9004-258A07E9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AA764-0419-4A06-A0AC-ACF33B9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9BC6C-2AB5-4CCA-B9FB-3184EF4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Drift, wersje, incydenty, rollback i owner.</a:t>
            </a:r>
          </a:p>
        </p:txBody>
      </p:sp>
    </p:spTree>
    <p:extLst>
      <p:ext uri="{BB962C8B-B14F-4D97-AF65-F5344CB8AC3E}">
        <p14:creationId xmlns:p14="http://schemas.microsoft.com/office/powerpoint/2010/main" val="25886710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8ACA5-F03D-4B99-ADC7-9860A044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80F39-1692-41D3-B20D-8A8F8802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61F7D-533E-4C62-86C3-95AC74CE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oversight zależy od wpływu systemu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0BFA0-7FE9-4E1C-BEA9-217C87DD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5BC34-9B5B-4959-86E6-6CB942EF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Wzorzec bezpieczniejszy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242EB-E298-4DA6-A037-635F49D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zadanie przygotowawcze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jawne źródła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możliwość odrzucenia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kompetentny reviewer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FD3C7-BB5B-4E10-8CA8-5BFB71F7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76F60-CC9D-40FA-A807-F5A9B96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Wzorzec ryzykowny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0CFDB-1663-4DDB-915E-F35BC79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automatyczna decyzja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profilowanie osób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audytu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ścieżki odwołania</a:t>
            </a:r>
          </a:p>
        </p:txBody>
      </p:sp>
    </p:spTree>
    <p:extLst>
      <p:ext uri="{BB962C8B-B14F-4D97-AF65-F5344CB8AC3E}">
        <p14:creationId xmlns:p14="http://schemas.microsoft.com/office/powerpoint/2010/main" val="135645708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19F94-96EB-4BA3-B60A-188A1D0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927DE-1C63-4318-9AB3-00ECB13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73C11-4734-4618-87D5-5446BEF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90 dni zaczyna się od kontraktu, nie od GPU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B2DC5-51F2-467A-9D94-40A996E8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9423-5349-44EF-9A1E-41AECC0B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30129-B09B-4395-90D8-3BCBA66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Zdefiniuj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B195-C633-4590-86A1-A8DC9DAD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Use case, owner, ryzyko, goldy i metryki.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DE4FD-7DBD-45AC-B44D-53E9444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E8A4D-0D51-4F40-BA7B-DF8ECA7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31–60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519FE-030B-45C2-9968-87337B3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Eksperymentuj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CE15A-1B80-42C8-B77E-EB4B8751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Baseline, PEFT, boundary data i trzy seedy.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9D9F1-4FB3-4DB8-AA08-71AC206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782B5-EDFD-4C0E-B1E3-82DC0AA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61–90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86237-94D0-4951-B278-E0BC0C1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Zabezpiecz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05511-9288-417E-B316-91C79742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Guardy, human review, monitoring i runbook.</a:t>
            </a:r>
          </a:p>
        </p:txBody>
      </p:sp>
    </p:spTree>
    <p:extLst>
      <p:ext uri="{BB962C8B-B14F-4D97-AF65-F5344CB8AC3E}">
        <p14:creationId xmlns:p14="http://schemas.microsoft.com/office/powerpoint/2010/main" val="57701529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436BE-3793-48B0-91E4-B8A0A3A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ZAMKNIĘCIE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6D410-4D87-473E-93D1-EAD6333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8F55-1763-4FA9-89ED-9A190FB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Dane graniczne. Wiele metryk. Hybrydowa odpowiedzialność.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FD03-F0B1-4671-8F60-0C7D6FC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F9811-194A-40BD-9C93-2CF4600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 i QLoRA obniżają koszt adaptacji. Profesjonalny system powstaje dopiero wokół adaptera.</a:t>
            </a:r>
          </a:p>
        </p:txBody>
      </p:sp>
    </p:spTree>
    <p:extLst>
      <p:ext uri="{BB962C8B-B14F-4D97-AF65-F5344CB8AC3E}">
        <p14:creationId xmlns:p14="http://schemas.microsoft.com/office/powerpoint/2010/main" val="1192730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2026-08-29T15:53:54.7710000Z</dcterms:created>
  <dcterms:modified xsi:type="dcterms:W3CDTF">2026-08-29T15:53:54.7710000Z</dcterms:modified>
</coreProperties>
</file>